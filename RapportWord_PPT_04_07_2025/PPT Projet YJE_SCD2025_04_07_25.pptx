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356" r:id="rId5"/>
    <p:sldId id="408" r:id="rId6"/>
    <p:sldId id="411" r:id="rId7"/>
    <p:sldId id="384" r:id="rId8"/>
    <p:sldId id="405" r:id="rId9"/>
    <p:sldId id="385" r:id="rId10"/>
    <p:sldId id="386" r:id="rId11"/>
    <p:sldId id="402" r:id="rId12"/>
    <p:sldId id="387" r:id="rId13"/>
    <p:sldId id="416" r:id="rId14"/>
    <p:sldId id="390" r:id="rId15"/>
    <p:sldId id="406" r:id="rId16"/>
    <p:sldId id="388" r:id="rId17"/>
    <p:sldId id="391" r:id="rId18"/>
    <p:sldId id="392" r:id="rId19"/>
    <p:sldId id="394" r:id="rId20"/>
    <p:sldId id="395" r:id="rId21"/>
    <p:sldId id="393" r:id="rId22"/>
    <p:sldId id="396" r:id="rId23"/>
    <p:sldId id="398" r:id="rId24"/>
    <p:sldId id="404" r:id="rId25"/>
    <p:sldId id="397" r:id="rId26"/>
    <p:sldId id="399" r:id="rId27"/>
    <p:sldId id="400" r:id="rId28"/>
    <p:sldId id="401" r:id="rId29"/>
    <p:sldId id="409" r:id="rId30"/>
    <p:sldId id="403" r:id="rId31"/>
    <p:sldId id="410" r:id="rId32"/>
    <p:sldId id="413" r:id="rId33"/>
    <p:sldId id="414" r:id="rId34"/>
    <p:sldId id="415" r:id="rId35"/>
    <p:sldId id="417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EBE392-23CD-48F2-BB64-37BC192D734B}" v="50" dt="2025-07-04T09:27:51.915"/>
    <p1510:client id="{A6C3BEF3-7156-4486-90A7-2A7F5BEFD3EB}" v="490" dt="2025-07-03T11:39:30.269"/>
    <p1510:client id="{AD30930E-13CA-A2A2-4016-6B8BB7238499}" v="506" dt="2025-07-04T13:26:03.823"/>
    <p1510:client id="{C1B1CA5A-FA2A-49A7-9693-1FCF0B32A22E}" v="28" dt="2025-07-03T11:05:56.758"/>
    <p1510:client id="{C7BEF0E9-774E-FE07-75B2-E2D5A5E1910A}" v="32" dt="2025-07-03T10:58:01.6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92_4F005EE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lternance\A4\IR\Courb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Corr_lations_avec_la_production!$B$1</c:f>
              <c:strCache>
                <c:ptCount val="1"/>
                <c:pt idx="0">
                  <c:v>Corrélation avec production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Corr_lations_avec_la_production!$A$2:$A$148</c:f>
              <c:strCache>
                <c:ptCount val="147"/>
                <c:pt idx="0">
                  <c:v>total_panel_area</c:v>
                </c:pt>
                <c:pt idx="1">
                  <c:v>facade_area</c:v>
                </c:pt>
                <c:pt idx="2">
                  <c:v>exploitation_ratio</c:v>
                </c:pt>
                <c:pt idx="3">
                  <c:v>dni_std</c:v>
                </c:pt>
                <c:pt idx="4">
                  <c:v>gti_std</c:v>
                </c:pt>
                <c:pt idx="5">
                  <c:v>gti_max</c:v>
                </c:pt>
                <c:pt idx="6">
                  <c:v>dni_max</c:v>
                </c:pt>
                <c:pt idx="7">
                  <c:v>dni_mean</c:v>
                </c:pt>
                <c:pt idx="8">
                  <c:v>dni_q3</c:v>
                </c:pt>
                <c:pt idx="9">
                  <c:v>gti_mean</c:v>
                </c:pt>
                <c:pt idx="10">
                  <c:v>gti_q3</c:v>
                </c:pt>
                <c:pt idx="11">
                  <c:v>ghi_std</c:v>
                </c:pt>
                <c:pt idx="12">
                  <c:v>panel_area</c:v>
                </c:pt>
                <c:pt idx="13">
                  <c:v>relative_humidity_std</c:v>
                </c:pt>
                <c:pt idx="14">
                  <c:v>air_temp_std</c:v>
                </c:pt>
                <c:pt idx="15">
                  <c:v>ghi_max</c:v>
                </c:pt>
                <c:pt idx="16">
                  <c:v>ghi_q3</c:v>
                </c:pt>
                <c:pt idx="17">
                  <c:v>ghi_mean</c:v>
                </c:pt>
                <c:pt idx="18">
                  <c:v>clearsky_dni_std</c:v>
                </c:pt>
                <c:pt idx="19">
                  <c:v>clearsky_dni_q3</c:v>
                </c:pt>
                <c:pt idx="20">
                  <c:v>clearsky_dni_max</c:v>
                </c:pt>
                <c:pt idx="21">
                  <c:v>clearsky_gti_max</c:v>
                </c:pt>
                <c:pt idx="22">
                  <c:v>clearsky_gti_std</c:v>
                </c:pt>
                <c:pt idx="23">
                  <c:v>clearsky_gti_q3</c:v>
                </c:pt>
                <c:pt idx="24">
                  <c:v>air_temp_max</c:v>
                </c:pt>
                <c:pt idx="25">
                  <c:v>clearsky_dni_mean</c:v>
                </c:pt>
                <c:pt idx="26">
                  <c:v>clearsky_gti_mean</c:v>
                </c:pt>
                <c:pt idx="27">
                  <c:v>air_temp_q3</c:v>
                </c:pt>
                <c:pt idx="28">
                  <c:v>clearsky_ghi_max</c:v>
                </c:pt>
                <c:pt idx="29">
                  <c:v>clearsky_ghi_std</c:v>
                </c:pt>
                <c:pt idx="30">
                  <c:v>clearsky_ghi_q3</c:v>
                </c:pt>
                <c:pt idx="31">
                  <c:v>clearsky_ghi_mean</c:v>
                </c:pt>
                <c:pt idx="32">
                  <c:v>azimuth_q1</c:v>
                </c:pt>
                <c:pt idx="33">
                  <c:v>air_temp_mean</c:v>
                </c:pt>
                <c:pt idx="34">
                  <c:v>dni_q2</c:v>
                </c:pt>
                <c:pt idx="35">
                  <c:v>air_temp_q2</c:v>
                </c:pt>
                <c:pt idx="36">
                  <c:v>gti_q2</c:v>
                </c:pt>
                <c:pt idx="37">
                  <c:v>ghi_q2</c:v>
                </c:pt>
                <c:pt idx="38">
                  <c:v>vmp</c:v>
                </c:pt>
                <c:pt idx="39">
                  <c:v>surface_pressure_min</c:v>
                </c:pt>
                <c:pt idx="40">
                  <c:v>dhi_q2</c:v>
                </c:pt>
                <c:pt idx="41">
                  <c:v>surface_pressure_q1</c:v>
                </c:pt>
                <c:pt idx="42">
                  <c:v>surface_pressure_q2</c:v>
                </c:pt>
                <c:pt idx="43">
                  <c:v>surface_pressure_mean</c:v>
                </c:pt>
                <c:pt idx="44">
                  <c:v>surface_pressure_q3</c:v>
                </c:pt>
                <c:pt idx="45">
                  <c:v>clearsky_dhi_q3</c:v>
                </c:pt>
                <c:pt idx="46">
                  <c:v>surface_pressure_max</c:v>
                </c:pt>
                <c:pt idx="47">
                  <c:v>clearsky_dni_q2</c:v>
                </c:pt>
                <c:pt idx="48">
                  <c:v>clearsky_dhi_mean</c:v>
                </c:pt>
                <c:pt idx="49">
                  <c:v>clearsky_dhi_q2</c:v>
                </c:pt>
                <c:pt idx="50">
                  <c:v>azimuth_min</c:v>
                </c:pt>
                <c:pt idx="51">
                  <c:v>clearsky_gti_q2</c:v>
                </c:pt>
                <c:pt idx="52">
                  <c:v>air_temp_q1</c:v>
                </c:pt>
                <c:pt idx="53">
                  <c:v>clearsky_ghi_q2</c:v>
                </c:pt>
                <c:pt idx="54">
                  <c:v>voc</c:v>
                </c:pt>
                <c:pt idx="55">
                  <c:v>p_max</c:v>
                </c:pt>
                <c:pt idx="56">
                  <c:v>dhi_q3</c:v>
                </c:pt>
                <c:pt idx="57">
                  <c:v>latitude</c:v>
                </c:pt>
                <c:pt idx="58">
                  <c:v>air_temp_min</c:v>
                </c:pt>
                <c:pt idx="59">
                  <c:v>clearsky_dhi_std</c:v>
                </c:pt>
                <c:pt idx="60">
                  <c:v>building_id</c:v>
                </c:pt>
                <c:pt idx="61">
                  <c:v>dhi_mean</c:v>
                </c:pt>
                <c:pt idx="62">
                  <c:v>wind_direction_10m_std</c:v>
                </c:pt>
                <c:pt idx="63">
                  <c:v>day</c:v>
                </c:pt>
                <c:pt idx="64">
                  <c:v>dewpoint_temp_std</c:v>
                </c:pt>
                <c:pt idx="65">
                  <c:v>clearsky_dhi_max</c:v>
                </c:pt>
                <c:pt idx="66">
                  <c:v>dewpoint_temp_max</c:v>
                </c:pt>
                <c:pt idx="67">
                  <c:v>wind_direction_100m_std</c:v>
                </c:pt>
                <c:pt idx="68">
                  <c:v>dewpoint_temp_q3</c:v>
                </c:pt>
                <c:pt idx="69">
                  <c:v>dewpoint_temp_mean</c:v>
                </c:pt>
                <c:pt idx="70">
                  <c:v>dewpoint_temp_q2</c:v>
                </c:pt>
                <c:pt idx="71">
                  <c:v>dewpoint_temp_q1</c:v>
                </c:pt>
                <c:pt idx="72">
                  <c:v>dewpoint_temp_min</c:v>
                </c:pt>
                <c:pt idx="73">
                  <c:v>azimuth_mean</c:v>
                </c:pt>
                <c:pt idx="74">
                  <c:v>azimuth_q2</c:v>
                </c:pt>
                <c:pt idx="75">
                  <c:v>dhi_std</c:v>
                </c:pt>
                <c:pt idx="76">
                  <c:v>precipitable_water_min</c:v>
                </c:pt>
                <c:pt idx="77">
                  <c:v>albedo_min</c:v>
                </c:pt>
                <c:pt idx="78">
                  <c:v>dhi_max</c:v>
                </c:pt>
                <c:pt idx="79">
                  <c:v>albedo_q3</c:v>
                </c:pt>
                <c:pt idx="80">
                  <c:v>albedo_q1</c:v>
                </c:pt>
                <c:pt idx="81">
                  <c:v>albedo_q2</c:v>
                </c:pt>
                <c:pt idx="82">
                  <c:v>albedo_mean</c:v>
                </c:pt>
                <c:pt idx="83">
                  <c:v>precipitable_water_q1</c:v>
                </c:pt>
                <c:pt idx="84">
                  <c:v>precipitable_water_mean</c:v>
                </c:pt>
                <c:pt idx="85">
                  <c:v>precipitable_water_max</c:v>
                </c:pt>
                <c:pt idx="86">
                  <c:v>azimuth_max</c:v>
                </c:pt>
                <c:pt idx="87">
                  <c:v>precipitable_water_q2</c:v>
                </c:pt>
                <c:pt idx="88">
                  <c:v>precipitable_water_q3</c:v>
                </c:pt>
                <c:pt idx="89">
                  <c:v>wind_speed_10m_std</c:v>
                </c:pt>
                <c:pt idx="90">
                  <c:v>wind_speed_100m_std</c:v>
                </c:pt>
                <c:pt idx="91">
                  <c:v>albedo_max</c:v>
                </c:pt>
                <c:pt idx="92">
                  <c:v>longitude</c:v>
                </c:pt>
                <c:pt idx="93">
                  <c:v>month</c:v>
                </c:pt>
                <c:pt idx="94">
                  <c:v>precipitation_rate_min</c:v>
                </c:pt>
                <c:pt idx="95">
                  <c:v>precipitable_water_std</c:v>
                </c:pt>
                <c:pt idx="96">
                  <c:v>wind_direction_10m_max</c:v>
                </c:pt>
                <c:pt idx="97">
                  <c:v>surface_pressure_std</c:v>
                </c:pt>
                <c:pt idx="98">
                  <c:v>wind_speed_10m_max</c:v>
                </c:pt>
                <c:pt idx="99">
                  <c:v>year</c:v>
                </c:pt>
                <c:pt idx="100">
                  <c:v>wind_speed_100m_min</c:v>
                </c:pt>
                <c:pt idx="101">
                  <c:v>wind_speed_10m_min</c:v>
                </c:pt>
                <c:pt idx="102">
                  <c:v>imp</c:v>
                </c:pt>
                <c:pt idx="103">
                  <c:v>wind_speed_100m_max</c:v>
                </c:pt>
                <c:pt idx="104">
                  <c:v>wind_speed_10m_q3</c:v>
                </c:pt>
                <c:pt idx="105">
                  <c:v>wind_direction_100m_max</c:v>
                </c:pt>
                <c:pt idx="106">
                  <c:v>wind_speed_100m_q1</c:v>
                </c:pt>
                <c:pt idx="107">
                  <c:v>wind_speed_10m_mean</c:v>
                </c:pt>
                <c:pt idx="108">
                  <c:v>wind_speed_10m_q2</c:v>
                </c:pt>
                <c:pt idx="109">
                  <c:v>wind_speed_10m_q1</c:v>
                </c:pt>
                <c:pt idx="110">
                  <c:v>wind_speed_100m_mean</c:v>
                </c:pt>
                <c:pt idx="111">
                  <c:v>wind_speed_100m_q2</c:v>
                </c:pt>
                <c:pt idx="112">
                  <c:v>isc</c:v>
                </c:pt>
                <c:pt idx="113">
                  <c:v>wind_speed_100m_q3</c:v>
                </c:pt>
                <c:pt idx="114">
                  <c:v>precipitation_rate_q1</c:v>
                </c:pt>
                <c:pt idx="115">
                  <c:v>wind_direction_10m_q3</c:v>
                </c:pt>
                <c:pt idx="116">
                  <c:v>azimuth_std</c:v>
                </c:pt>
                <c:pt idx="117">
                  <c:v>azimuth_q3</c:v>
                </c:pt>
                <c:pt idx="118">
                  <c:v>albedo_std</c:v>
                </c:pt>
                <c:pt idx="119">
                  <c:v>cloud_opacity_std</c:v>
                </c:pt>
                <c:pt idx="120">
                  <c:v>wind_direction_100m_min</c:v>
                </c:pt>
                <c:pt idx="121">
                  <c:v>wind_direction_10m_min</c:v>
                </c:pt>
                <c:pt idx="122">
                  <c:v>wind_direction_100m_q3</c:v>
                </c:pt>
                <c:pt idx="123">
                  <c:v>wind_direction_10m_q2</c:v>
                </c:pt>
                <c:pt idx="124">
                  <c:v>wind_direction_10m_q1</c:v>
                </c:pt>
                <c:pt idx="125">
                  <c:v>wind_direction_100m_q1</c:v>
                </c:pt>
                <c:pt idx="126">
                  <c:v>wind_direction_100m_q2</c:v>
                </c:pt>
                <c:pt idx="127">
                  <c:v>wind_direction_10m_mean</c:v>
                </c:pt>
                <c:pt idx="128">
                  <c:v>relative_humidity_max</c:v>
                </c:pt>
                <c:pt idx="129">
                  <c:v>precipitation_rate_max</c:v>
                </c:pt>
                <c:pt idx="130">
                  <c:v>wind_direction_100m_mean</c:v>
                </c:pt>
                <c:pt idx="131">
                  <c:v>precipitation_rate_q2</c:v>
                </c:pt>
                <c:pt idx="132">
                  <c:v>precipitation_rate_std</c:v>
                </c:pt>
                <c:pt idx="133">
                  <c:v>relative_humidity_q3</c:v>
                </c:pt>
                <c:pt idx="134">
                  <c:v>precipitation_rate_q3</c:v>
                </c:pt>
                <c:pt idx="135">
                  <c:v>precipitation_rate_mean</c:v>
                </c:pt>
                <c:pt idx="136">
                  <c:v>cloud_opacity_min</c:v>
                </c:pt>
                <c:pt idx="137">
                  <c:v>relative_humidity_q2</c:v>
                </c:pt>
                <c:pt idx="138">
                  <c:v>relative_humidity_mean</c:v>
                </c:pt>
                <c:pt idx="139">
                  <c:v>cloud_opacity_max</c:v>
                </c:pt>
                <c:pt idx="140">
                  <c:v>relative_humidity_q1</c:v>
                </c:pt>
                <c:pt idx="141">
                  <c:v>relative_humidity_min</c:v>
                </c:pt>
                <c:pt idx="142">
                  <c:v>cloud_opacity_q1</c:v>
                </c:pt>
                <c:pt idx="143">
                  <c:v>cloud_opacity_q3</c:v>
                </c:pt>
                <c:pt idx="144">
                  <c:v>cloud_opacity_q2</c:v>
                </c:pt>
                <c:pt idx="145">
                  <c:v>cloud_opacity_mean</c:v>
                </c:pt>
                <c:pt idx="146">
                  <c:v>p_per_m2</c:v>
                </c:pt>
              </c:strCache>
            </c:strRef>
          </c:cat>
          <c:val>
            <c:numRef>
              <c:f>Corr_lations_avec_la_production!$B$2:$B$148</c:f>
              <c:numCache>
                <c:formatCode>0.0000</c:formatCode>
                <c:ptCount val="147"/>
                <c:pt idx="0">
                  <c:v>0.73044716381077501</c:v>
                </c:pt>
                <c:pt idx="1">
                  <c:v>0.667801546210127</c:v>
                </c:pt>
                <c:pt idx="2">
                  <c:v>0.50010093167648495</c:v>
                </c:pt>
                <c:pt idx="3">
                  <c:v>0.40036131822716298</c:v>
                </c:pt>
                <c:pt idx="4">
                  <c:v>0.39261156676796</c:v>
                </c:pt>
                <c:pt idx="5">
                  <c:v>0.37585538384908201</c:v>
                </c:pt>
                <c:pt idx="6">
                  <c:v>0.37402151846655002</c:v>
                </c:pt>
                <c:pt idx="7">
                  <c:v>0.36576173490358199</c:v>
                </c:pt>
                <c:pt idx="8">
                  <c:v>0.36334205926840102</c:v>
                </c:pt>
                <c:pt idx="9">
                  <c:v>0.36285612547220297</c:v>
                </c:pt>
                <c:pt idx="10">
                  <c:v>0.35932661077570199</c:v>
                </c:pt>
                <c:pt idx="11">
                  <c:v>0.33767201653737</c:v>
                </c:pt>
                <c:pt idx="12">
                  <c:v>0.33537692156627702</c:v>
                </c:pt>
                <c:pt idx="13">
                  <c:v>0.33501768405203303</c:v>
                </c:pt>
                <c:pt idx="14">
                  <c:v>0.33046224988699702</c:v>
                </c:pt>
                <c:pt idx="15">
                  <c:v>0.31782165150726399</c:v>
                </c:pt>
                <c:pt idx="16">
                  <c:v>0.30876727312518398</c:v>
                </c:pt>
                <c:pt idx="17">
                  <c:v>0.30134457270134701</c:v>
                </c:pt>
                <c:pt idx="18">
                  <c:v>0.23689718360715001</c:v>
                </c:pt>
                <c:pt idx="19">
                  <c:v>0.234169068848921</c:v>
                </c:pt>
                <c:pt idx="20">
                  <c:v>0.226438378781572</c:v>
                </c:pt>
                <c:pt idx="21">
                  <c:v>0.21558101125947501</c:v>
                </c:pt>
                <c:pt idx="22">
                  <c:v>0.21520429099188201</c:v>
                </c:pt>
                <c:pt idx="23">
                  <c:v>0.20238806632251199</c:v>
                </c:pt>
                <c:pt idx="24">
                  <c:v>0.20199953947100599</c:v>
                </c:pt>
                <c:pt idx="25">
                  <c:v>0.19730939110610901</c:v>
                </c:pt>
                <c:pt idx="26">
                  <c:v>0.191069056764374</c:v>
                </c:pt>
                <c:pt idx="27">
                  <c:v>0.181617825309215</c:v>
                </c:pt>
                <c:pt idx="28">
                  <c:v>0.17843285996979599</c:v>
                </c:pt>
                <c:pt idx="29">
                  <c:v>0.17835775031139001</c:v>
                </c:pt>
                <c:pt idx="30">
                  <c:v>0.168403823619835</c:v>
                </c:pt>
                <c:pt idx="31">
                  <c:v>0.15618213771731701</c:v>
                </c:pt>
                <c:pt idx="32">
                  <c:v>0.15074106967418099</c:v>
                </c:pt>
                <c:pt idx="33">
                  <c:v>0.13439227552173</c:v>
                </c:pt>
                <c:pt idx="34">
                  <c:v>0.12598613839588299</c:v>
                </c:pt>
                <c:pt idx="35">
                  <c:v>0.125158004542156</c:v>
                </c:pt>
                <c:pt idx="36">
                  <c:v>0.114604083726844</c:v>
                </c:pt>
                <c:pt idx="37">
                  <c:v>0.113230603358493</c:v>
                </c:pt>
                <c:pt idx="38">
                  <c:v>0.111101578911</c:v>
                </c:pt>
                <c:pt idx="39">
                  <c:v>9.5595389756662999E-2</c:v>
                </c:pt>
                <c:pt idx="40">
                  <c:v>9.5089108351531296E-2</c:v>
                </c:pt>
                <c:pt idx="41">
                  <c:v>9.3571641102536393E-2</c:v>
                </c:pt>
                <c:pt idx="42">
                  <c:v>9.2205116845714905E-2</c:v>
                </c:pt>
                <c:pt idx="43">
                  <c:v>9.1542200778454305E-2</c:v>
                </c:pt>
                <c:pt idx="44">
                  <c:v>8.9744043173316898E-2</c:v>
                </c:pt>
                <c:pt idx="45">
                  <c:v>8.8230146095759396E-2</c:v>
                </c:pt>
                <c:pt idx="46">
                  <c:v>8.5405660053078106E-2</c:v>
                </c:pt>
                <c:pt idx="47">
                  <c:v>8.46867589755122E-2</c:v>
                </c:pt>
                <c:pt idx="48">
                  <c:v>8.2725823858426195E-2</c:v>
                </c:pt>
                <c:pt idx="49">
                  <c:v>7.6084157897313501E-2</c:v>
                </c:pt>
                <c:pt idx="50">
                  <c:v>7.4375630546781799E-2</c:v>
                </c:pt>
                <c:pt idx="51">
                  <c:v>7.0247897930645606E-2</c:v>
                </c:pt>
                <c:pt idx="52">
                  <c:v>6.8959411040967797E-2</c:v>
                </c:pt>
                <c:pt idx="53">
                  <c:v>6.2748843929021997E-2</c:v>
                </c:pt>
                <c:pt idx="54">
                  <c:v>5.8146432288919699E-2</c:v>
                </c:pt>
                <c:pt idx="55">
                  <c:v>5.6361340624706303E-2</c:v>
                </c:pt>
                <c:pt idx="56">
                  <c:v>5.5751127699089797E-2</c:v>
                </c:pt>
                <c:pt idx="57">
                  <c:v>5.5318068680244303E-2</c:v>
                </c:pt>
                <c:pt idx="58">
                  <c:v>4.9794424362993903E-2</c:v>
                </c:pt>
                <c:pt idx="59">
                  <c:v>4.5842461929312399E-2</c:v>
                </c:pt>
                <c:pt idx="60">
                  <c:v>4.1901647117102397E-2</c:v>
                </c:pt>
                <c:pt idx="61">
                  <c:v>4.0573699250413001E-2</c:v>
                </c:pt>
                <c:pt idx="62">
                  <c:v>3.66850920226406E-2</c:v>
                </c:pt>
                <c:pt idx="63">
                  <c:v>2.9430011524789301E-2</c:v>
                </c:pt>
                <c:pt idx="64">
                  <c:v>2.5085306603837398E-2</c:v>
                </c:pt>
                <c:pt idx="65">
                  <c:v>2.3759276145760601E-2</c:v>
                </c:pt>
                <c:pt idx="66">
                  <c:v>1.4665884183948E-2</c:v>
                </c:pt>
                <c:pt idx="67">
                  <c:v>1.17418841435908E-2</c:v>
                </c:pt>
                <c:pt idx="68">
                  <c:v>8.4426969840489998E-3</c:v>
                </c:pt>
                <c:pt idx="69">
                  <c:v>6.7073392828485004E-3</c:v>
                </c:pt>
                <c:pt idx="70">
                  <c:v>6.4954536904767999E-3</c:v>
                </c:pt>
                <c:pt idx="71">
                  <c:v>3.7917695533557002E-3</c:v>
                </c:pt>
                <c:pt idx="72">
                  <c:v>2.7422986783079998E-3</c:v>
                </c:pt>
                <c:pt idx="73">
                  <c:v>3.9462342650710002E-4</c:v>
                </c:pt>
                <c:pt idx="74">
                  <c:v>-3.4080805276568002E-3</c:v>
                </c:pt>
                <c:pt idx="75">
                  <c:v>-8.4418418278624993E-3</c:v>
                </c:pt>
                <c:pt idx="76">
                  <c:v>-1.2646124687549099E-2</c:v>
                </c:pt>
                <c:pt idx="77">
                  <c:v>-1.73457961733453E-2</c:v>
                </c:pt>
                <c:pt idx="78">
                  <c:v>-1.8778907895486401E-2</c:v>
                </c:pt>
                <c:pt idx="79">
                  <c:v>-2.53985999136968E-2</c:v>
                </c:pt>
                <c:pt idx="80">
                  <c:v>-2.53985999136968E-2</c:v>
                </c:pt>
                <c:pt idx="81">
                  <c:v>-2.53985999136968E-2</c:v>
                </c:pt>
                <c:pt idx="82">
                  <c:v>-2.58342731912014E-2</c:v>
                </c:pt>
                <c:pt idx="83">
                  <c:v>-3.3185018929454899E-2</c:v>
                </c:pt>
                <c:pt idx="84">
                  <c:v>-3.9917610339904902E-2</c:v>
                </c:pt>
                <c:pt idx="85">
                  <c:v>-4.1072366517722302E-2</c:v>
                </c:pt>
                <c:pt idx="86">
                  <c:v>-4.3320288158934697E-2</c:v>
                </c:pt>
                <c:pt idx="87">
                  <c:v>-4.5503255662526602E-2</c:v>
                </c:pt>
                <c:pt idx="88">
                  <c:v>-4.7117692365396299E-2</c:v>
                </c:pt>
                <c:pt idx="89">
                  <c:v>-4.9807235234675999E-2</c:v>
                </c:pt>
                <c:pt idx="90">
                  <c:v>-5.0331325138725999E-2</c:v>
                </c:pt>
                <c:pt idx="91">
                  <c:v>-5.2596635504603403E-2</c:v>
                </c:pt>
                <c:pt idx="92">
                  <c:v>-5.6555190798121803E-2</c:v>
                </c:pt>
                <c:pt idx="93">
                  <c:v>-5.6936631410521299E-2</c:v>
                </c:pt>
                <c:pt idx="94">
                  <c:v>-6.1073523468371603E-2</c:v>
                </c:pt>
                <c:pt idx="95">
                  <c:v>-6.3415072376604806E-2</c:v>
                </c:pt>
                <c:pt idx="96">
                  <c:v>-8.5110618996039306E-2</c:v>
                </c:pt>
                <c:pt idx="97">
                  <c:v>-8.8429809462032605E-2</c:v>
                </c:pt>
                <c:pt idx="98">
                  <c:v>-0.105257480357867</c:v>
                </c:pt>
                <c:pt idx="99">
                  <c:v>-0.106088797506897</c:v>
                </c:pt>
                <c:pt idx="100">
                  <c:v>-0.106689447160931</c:v>
                </c:pt>
                <c:pt idx="101">
                  <c:v>-0.110924964657167</c:v>
                </c:pt>
                <c:pt idx="102">
                  <c:v>-0.111074499165169</c:v>
                </c:pt>
                <c:pt idx="103">
                  <c:v>-0.11120488453161501</c:v>
                </c:pt>
                <c:pt idx="104">
                  <c:v>-0.114508147489553</c:v>
                </c:pt>
                <c:pt idx="105">
                  <c:v>-0.116788937064621</c:v>
                </c:pt>
                <c:pt idx="106">
                  <c:v>-0.11900657166998301</c:v>
                </c:pt>
                <c:pt idx="107">
                  <c:v>-0.12087198874762201</c:v>
                </c:pt>
                <c:pt idx="108">
                  <c:v>-0.123274106252174</c:v>
                </c:pt>
                <c:pt idx="109">
                  <c:v>-0.12385588529859801</c:v>
                </c:pt>
                <c:pt idx="110">
                  <c:v>-0.124342105049041</c:v>
                </c:pt>
                <c:pt idx="111">
                  <c:v>-0.124417993482317</c:v>
                </c:pt>
                <c:pt idx="112">
                  <c:v>-0.125207921970522</c:v>
                </c:pt>
                <c:pt idx="113">
                  <c:v>-0.12594900207955101</c:v>
                </c:pt>
                <c:pt idx="114">
                  <c:v>-0.13716128532376401</c:v>
                </c:pt>
                <c:pt idx="115">
                  <c:v>-0.140587652481478</c:v>
                </c:pt>
                <c:pt idx="116">
                  <c:v>-0.140662305113258</c:v>
                </c:pt>
                <c:pt idx="117">
                  <c:v>-0.14139385274496499</c:v>
                </c:pt>
                <c:pt idx="118">
                  <c:v>-0.14382413769119501</c:v>
                </c:pt>
                <c:pt idx="119">
                  <c:v>-0.14427718081529101</c:v>
                </c:pt>
                <c:pt idx="120">
                  <c:v>-0.15416495400814001</c:v>
                </c:pt>
                <c:pt idx="121">
                  <c:v>-0.15869518273732999</c:v>
                </c:pt>
                <c:pt idx="122">
                  <c:v>-0.15941964619808399</c:v>
                </c:pt>
                <c:pt idx="123">
                  <c:v>-0.15956472865191901</c:v>
                </c:pt>
                <c:pt idx="124">
                  <c:v>-0.16217649992339001</c:v>
                </c:pt>
                <c:pt idx="125">
                  <c:v>-0.169922783862379</c:v>
                </c:pt>
                <c:pt idx="126">
                  <c:v>-0.17138776250076199</c:v>
                </c:pt>
                <c:pt idx="127">
                  <c:v>-0.17361413298251499</c:v>
                </c:pt>
                <c:pt idx="128">
                  <c:v>-0.17605869309814601</c:v>
                </c:pt>
                <c:pt idx="129">
                  <c:v>-0.18306492123269599</c:v>
                </c:pt>
                <c:pt idx="130">
                  <c:v>-0.18614881843152201</c:v>
                </c:pt>
                <c:pt idx="131">
                  <c:v>-0.18917912254896299</c:v>
                </c:pt>
                <c:pt idx="132">
                  <c:v>-0.19173164736374601</c:v>
                </c:pt>
                <c:pt idx="133">
                  <c:v>-0.19936726662971299</c:v>
                </c:pt>
                <c:pt idx="134">
                  <c:v>-0.203079954808249</c:v>
                </c:pt>
                <c:pt idx="135">
                  <c:v>-0.21382358840229701</c:v>
                </c:pt>
                <c:pt idx="136">
                  <c:v>-0.23296839831472299</c:v>
                </c:pt>
                <c:pt idx="137">
                  <c:v>-0.26885973686218301</c:v>
                </c:pt>
                <c:pt idx="138">
                  <c:v>-0.29251538698955198</c:v>
                </c:pt>
                <c:pt idx="139">
                  <c:v>-0.30689906001860301</c:v>
                </c:pt>
                <c:pt idx="140">
                  <c:v>-0.32099143093171301</c:v>
                </c:pt>
                <c:pt idx="141">
                  <c:v>-0.34019140087180899</c:v>
                </c:pt>
                <c:pt idx="142">
                  <c:v>-0.34700809452166198</c:v>
                </c:pt>
                <c:pt idx="143">
                  <c:v>-0.36780667418885699</c:v>
                </c:pt>
                <c:pt idx="144">
                  <c:v>-0.37390698235076097</c:v>
                </c:pt>
                <c:pt idx="145">
                  <c:v>-0.38176002209726401</c:v>
                </c:pt>
                <c:pt idx="146">
                  <c:v>-0.61037490053347798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DE-4D48-869A-E83D17FB1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712783"/>
        <c:axId val="574665263"/>
      </c:barChart>
      <c:catAx>
        <c:axId val="574712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74665263"/>
        <c:crosses val="autoZero"/>
        <c:auto val="1"/>
        <c:lblAlgn val="ctr"/>
        <c:lblOffset val="100"/>
        <c:noMultiLvlLbl val="0"/>
      </c:catAx>
      <c:valAx>
        <c:axId val="574665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74712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Feuil1!$I$4</c:f>
              <c:strCache>
                <c:ptCount val="1"/>
                <c:pt idx="0">
                  <c:v>R² sur données réduites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 w="12700" cmpd="sng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Feuil1!$H$5:$H$10</c:f>
              <c:strCache>
                <c:ptCount val="6"/>
                <c:pt idx="0">
                  <c:v>LSTM</c:v>
                </c:pt>
                <c:pt idx="1">
                  <c:v>Transformer</c:v>
                </c:pt>
                <c:pt idx="2">
                  <c:v>Transformer + Optuna</c:v>
                </c:pt>
                <c:pt idx="3">
                  <c:v>ConvLSTM</c:v>
                </c:pt>
                <c:pt idx="4">
                  <c:v>ConvLSTM + PSO</c:v>
                </c:pt>
                <c:pt idx="5">
                  <c:v>ConvLSTM + Optuna</c:v>
                </c:pt>
              </c:strCache>
            </c:strRef>
          </c:cat>
          <c:val>
            <c:numRef>
              <c:f>Feuil1!$I$5:$I$10</c:f>
              <c:numCache>
                <c:formatCode>General</c:formatCode>
                <c:ptCount val="6"/>
                <c:pt idx="0">
                  <c:v>0.60629999999999995</c:v>
                </c:pt>
                <c:pt idx="1">
                  <c:v>0.61519999999999997</c:v>
                </c:pt>
                <c:pt idx="2">
                  <c:v>0.63129999999999997</c:v>
                </c:pt>
                <c:pt idx="3">
                  <c:v>0.7954</c:v>
                </c:pt>
                <c:pt idx="4">
                  <c:v>0.95860000000000001</c:v>
                </c:pt>
                <c:pt idx="5">
                  <c:v>0.96240000000000003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9E-44D3-A92B-D5058FB3B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295169440"/>
        <c:axId val="295160800"/>
      </c:barChart>
      <c:catAx>
        <c:axId val="295169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sz="1800">
                    <a:solidFill>
                      <a:sysClr val="windowText" lastClr="000000"/>
                    </a:solidFill>
                  </a:rPr>
                  <a:t>Modéle</a:t>
                </a:r>
              </a:p>
            </c:rich>
          </c:tx>
          <c:layout>
            <c:manualLayout>
              <c:xMode val="edge"/>
              <c:yMode val="edge"/>
              <c:x val="0.48903974418644214"/>
              <c:y val="0.9333684876047985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95160800"/>
        <c:crosses val="autoZero"/>
        <c:auto val="1"/>
        <c:lblAlgn val="ctr"/>
        <c:lblOffset val="100"/>
        <c:noMultiLvlLbl val="0"/>
      </c:catAx>
      <c:valAx>
        <c:axId val="295160800"/>
        <c:scaling>
          <c:orientation val="minMax"/>
          <c:max val="1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sz="1800">
                    <a:solidFill>
                      <a:sysClr val="windowText" lastClr="000000"/>
                    </a:solidFill>
                  </a:rPr>
                  <a:t>R²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95169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B6781-993A-4294-92B1-CD18CB97F745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6F5D3-03E7-419C-95AF-8495DDB990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652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2CA2C-1197-4E36-A4EB-A42B829A60E5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44FDA-134C-4314-B681-4CEB09E6B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322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Jad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513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Jad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30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Jad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136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Sylvain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611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Sylvain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437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Sylvain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53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Sylvain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671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EDCE-1CB7-5585-4D6E-7BC5ED3B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03153C-0439-2223-9AF9-DAB8F521E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0C9D808-6D72-D143-1833-B6E89FBA6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Sylvain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3B1F45-8B68-5D4F-F641-0EE26BBFD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419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Saman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570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Sylvain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116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Saman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052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Saman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624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7072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Nathan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1976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Nathan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424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Jad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28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Sylvain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960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Saman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404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Saman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9520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7370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113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030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9830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2514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6086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746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914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Nathan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251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D3026-5E37-5D25-502E-46F017FA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869E8-E26F-DFE5-F89F-630C2B44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84C019-C52A-96E5-2457-9C8E62CB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Nathan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B8B9E6-FC00-1B5B-D9E4-D76453C78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44FDA-134C-4314-B681-4CEB09E6BD31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0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8C9F3F-F874-4F85-B417-D0201D0E35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6975E96-B0BB-400E-A685-DC9EE3926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2520" y="929005"/>
            <a:ext cx="7802563" cy="27515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fr-FR"/>
              <a:t>TITRE DE LA PRÉSENTATION SUR UNE OU PLUSIEURS LIGNES 48pt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AC1C2A1-611E-4233-8A93-7F24345DB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2837" y="3695700"/>
            <a:ext cx="7802563" cy="746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de la présentation et date si nécessaire sur une ou deux lignes 24pt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D26558-898A-4181-A9A2-1F5CB2A395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3950" y="5935419"/>
            <a:ext cx="1244081" cy="5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VERTURE 2 - logo NB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6975E96-B0BB-400E-A685-DC9EE3926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344" y="457201"/>
            <a:ext cx="4935539" cy="31623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/>
              <a:t>TITRE DE LA PRÉSENTATION SUR PLUSIEURS LIGNES 40pt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AC1C2A1-611E-4233-8A93-7F24345DB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1" y="3695700"/>
            <a:ext cx="4935539" cy="22326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de la présentation et date si nécessaire sur une ou deux lignes 20pt</a:t>
            </a:r>
          </a:p>
        </p:txBody>
      </p:sp>
    </p:spTree>
    <p:extLst>
      <p:ext uri="{BB962C8B-B14F-4D97-AF65-F5344CB8AC3E}">
        <p14:creationId xmlns:p14="http://schemas.microsoft.com/office/powerpoint/2010/main" val="410399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3 - Logo couleur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6975E96-B0BB-400E-A685-DC9EE3926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344" y="457201"/>
            <a:ext cx="4935539" cy="31623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/>
              <a:t>TITRE DE LA PRÉSENTATION SUR PLUSIEURS LIGNES 40pt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AC1C2A1-611E-4233-8A93-7F24345DB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1" y="3695700"/>
            <a:ext cx="4935539" cy="22326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de la présentation et date si nécessaire sur une ou deux lignes 20pt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591" y="5928360"/>
            <a:ext cx="1256400" cy="58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2490535-A90B-4C2E-867F-23B80BF168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75226" y="1760540"/>
            <a:ext cx="6043613" cy="3146425"/>
          </a:xfrm>
          <a:prstGeom prst="rect">
            <a:avLst/>
          </a:prstGeom>
        </p:spPr>
        <p:txBody>
          <a:bodyPr/>
          <a:lstStyle>
            <a:lvl1pPr marL="358766" indent="-358766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>
                <a:latin typeface="+mj-lt"/>
              </a:defRPr>
            </a:lvl1pPr>
          </a:lstStyle>
          <a:p>
            <a:pPr lvl="0"/>
            <a:r>
              <a:rPr lang="fr-FR"/>
              <a:t>Titre de la partie une - 20pt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459381D6-8843-4B02-A179-B852A51C13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504" y="1691642"/>
            <a:ext cx="3071621" cy="3146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+mj-lt"/>
              <a:buNone/>
              <a:defRPr sz="3600">
                <a:latin typeface="+mj-lt"/>
              </a:defRPr>
            </a:lvl1pPr>
          </a:lstStyle>
          <a:p>
            <a:pPr lvl="0"/>
            <a:r>
              <a:rPr lang="fr-FR"/>
              <a:t>SOMMAIRE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1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C280DB-F414-4571-B3C0-485CFB1AC1E0}"/>
              </a:ext>
            </a:extLst>
          </p:cNvPr>
          <p:cNvSpPr/>
          <p:nvPr userDrawn="1"/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2490535-A90B-4C2E-867F-23B80BF168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75226" y="1760540"/>
            <a:ext cx="6043613" cy="3146425"/>
          </a:xfrm>
          <a:prstGeom prst="rect">
            <a:avLst/>
          </a:prstGeom>
        </p:spPr>
        <p:txBody>
          <a:bodyPr/>
          <a:lstStyle>
            <a:lvl1pPr marL="358766" indent="-358766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>
                <a:latin typeface="+mj-lt"/>
              </a:defRPr>
            </a:lvl1pPr>
          </a:lstStyle>
          <a:p>
            <a:pPr lvl="0"/>
            <a:r>
              <a:rPr lang="fr-FR"/>
              <a:t>Titre de la partie une - 20pt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459381D6-8843-4B02-A179-B852A51C13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504" y="1691642"/>
            <a:ext cx="3071621" cy="3146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+mj-lt"/>
              <a:buNone/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SOMMAIRE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1" y="0"/>
            <a:ext cx="3771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2490535-A90B-4C2E-867F-23B80BF168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75226" y="1760540"/>
            <a:ext cx="6043613" cy="3146425"/>
          </a:xfrm>
          <a:prstGeom prst="rect">
            <a:avLst/>
          </a:prstGeom>
        </p:spPr>
        <p:txBody>
          <a:bodyPr/>
          <a:lstStyle>
            <a:lvl1pPr marL="358766" indent="-358766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>
                <a:latin typeface="+mj-lt"/>
              </a:defRPr>
            </a:lvl1pPr>
          </a:lstStyle>
          <a:p>
            <a:pPr lvl="0"/>
            <a:r>
              <a:rPr lang="fr-FR"/>
              <a:t>Titre de la partie une - 20pt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459381D6-8843-4B02-A179-B852A51C13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504" y="1691642"/>
            <a:ext cx="3071621" cy="3146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+mj-lt"/>
              <a:buNone/>
              <a:defRPr sz="3600">
                <a:latin typeface="+mj-lt"/>
              </a:defRPr>
            </a:lvl1pPr>
          </a:lstStyle>
          <a:p>
            <a:pPr lvl="0"/>
            <a:r>
              <a:rPr lang="fr-FR"/>
              <a:t>SOMMAIRE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NUMERO - NOIR /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6BBC1D-E2B1-497D-B628-1DD0BA7B4E24}"/>
              </a:ext>
            </a:extLst>
          </p:cNvPr>
          <p:cNvSpPr/>
          <p:nvPr userDrawn="1"/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7">
            <a:extLst>
              <a:ext uri="{FF2B5EF4-FFF2-40B4-BE49-F238E27FC236}">
                <a16:creationId xmlns:a16="http://schemas.microsoft.com/office/drawing/2014/main" id="{935876CC-5448-4A40-86F4-8A63702C8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B289BCF-DEB3-4480-9DD3-8E9F49201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BFB16C0C-0D46-4514-9E82-BADA3FA6F9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1604" y="1744981"/>
            <a:ext cx="1663065" cy="2073275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500">
                <a:solidFill>
                  <a:schemeClr val="accent1"/>
                </a:solidFill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1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9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NUMERO - BLANC /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7">
            <a:extLst>
              <a:ext uri="{FF2B5EF4-FFF2-40B4-BE49-F238E27FC236}">
                <a16:creationId xmlns:a16="http://schemas.microsoft.com/office/drawing/2014/main" id="{91817244-C9D2-4F42-A700-FAC476FE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60548A10-FB1C-49E5-8C8D-780B99802B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5B71A301-17C4-4FD0-8854-7B32037C0B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1604" y="1744981"/>
            <a:ext cx="1663065" cy="2073275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5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1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8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NUMERO - JAUNE /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1" y="0"/>
            <a:ext cx="3771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641A2957-9E63-4B8F-98A5-895D6A9DF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1476136-E9EA-4A78-8065-E864B26265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E6E6525D-C0B3-4DF8-B3F6-B2618BA05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1604" y="1744981"/>
            <a:ext cx="1663065" cy="2073275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5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1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7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VISUEL -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C0492AA-A5FE-44CE-85EB-A901859C25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BFDA0980-4B93-43FB-AF8B-DFE3C3F84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6C29A94C-3A6B-44B6-BA4C-B643DA1D9E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7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VISUEL - JAU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6D1A802C-A454-E097-0BFD-D43EF5CBC7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BFDA0980-4B93-43FB-AF8B-DFE3C3F84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4D0F442-7E24-40BC-A07C-0777D6F74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44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VISUEL -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5">
            <a:extLst>
              <a:ext uri="{FF2B5EF4-FFF2-40B4-BE49-F238E27FC236}">
                <a16:creationId xmlns:a16="http://schemas.microsoft.com/office/drawing/2014/main" id="{2E5B610A-0EA8-B1D1-7674-D908DDE66E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BFDA0980-4B93-43FB-AF8B-DFE3C3F84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4D0F442-7E24-40BC-A07C-0777D6F74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28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VISUEL -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5">
            <a:extLst>
              <a:ext uri="{FF2B5EF4-FFF2-40B4-BE49-F238E27FC236}">
                <a16:creationId xmlns:a16="http://schemas.microsoft.com/office/drawing/2014/main" id="{76B62E27-4BE0-B6E5-39AC-4C9835C9ED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BFDA0980-4B93-43FB-AF8B-DFE3C3F84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4D0F442-7E24-40BC-A07C-0777D6F74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2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VISUEL - 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5">
            <a:extLst>
              <a:ext uri="{FF2B5EF4-FFF2-40B4-BE49-F238E27FC236}">
                <a16:creationId xmlns:a16="http://schemas.microsoft.com/office/drawing/2014/main" id="{21FC223C-206E-77D8-A8D9-0A8F3F1B74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BFDA0980-4B93-43FB-AF8B-DFE3C3F84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4D0F442-7E24-40BC-A07C-0777D6F74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8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 VISUEL -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5">
            <a:extLst>
              <a:ext uri="{FF2B5EF4-FFF2-40B4-BE49-F238E27FC236}">
                <a16:creationId xmlns:a16="http://schemas.microsoft.com/office/drawing/2014/main" id="{63FF4DC5-4BD1-5BD2-8A3F-B1B14E7B52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>
            <a:off x="3771901" y="0"/>
            <a:ext cx="84201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7">
            <a:extLst>
              <a:ext uri="{FF2B5EF4-FFF2-40B4-BE49-F238E27FC236}">
                <a16:creationId xmlns:a16="http://schemas.microsoft.com/office/drawing/2014/main" id="{BFDA0980-4B93-43FB-AF8B-DFE3C3F84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0155" y="1744982"/>
            <a:ext cx="5863591" cy="2073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266693" algn="l"/>
              </a:tabLst>
              <a:defRPr sz="3600"/>
            </a:lvl1pPr>
          </a:lstStyle>
          <a:p>
            <a:r>
              <a:rPr lang="fr-FR"/>
              <a:t>TITRE DE LA PARTIE SUR UNE OU PLUSIEURS LIGNES 36pt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4D0F442-7E24-40BC-A07C-0777D6F74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0155" y="3992880"/>
            <a:ext cx="5863591" cy="1341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description rapide de la partie sur une ou plusieurs lignes 18pt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61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7">
            <a:extLst>
              <a:ext uri="{FF2B5EF4-FFF2-40B4-BE49-F238E27FC236}">
                <a16:creationId xmlns:a16="http://schemas.microsoft.com/office/drawing/2014/main" id="{B6865195-2830-4EBE-8A6A-80A92F351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4" y="1004253"/>
            <a:ext cx="11119483" cy="3749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LIGNE 24pt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Janvier 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SAM 1 – Développement Durable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344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- 1 BLOC /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11110279" cy="7331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360FF75D-9383-4A56-9D2D-31C35DAA17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735" y="2058829"/>
            <a:ext cx="11110279" cy="40339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766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- 1 BLOC /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44E9F3-D675-457E-9C90-DE9E2DD457DA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6" name="Espace réservé de la date 2">
            <a:extLst>
              <a:ext uri="{FF2B5EF4-FFF2-40B4-BE49-F238E27FC236}">
                <a16:creationId xmlns:a16="http://schemas.microsoft.com/office/drawing/2014/main" id="{30D12E3B-E72A-4C97-9D39-038DA055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17" name="Espace réservé du pied de page 3">
            <a:extLst>
              <a:ext uri="{FF2B5EF4-FFF2-40B4-BE49-F238E27FC236}">
                <a16:creationId xmlns:a16="http://schemas.microsoft.com/office/drawing/2014/main" id="{D3FAD8DD-F763-4470-919E-92BFA5FD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18" name="Espace réservé du numéro de diapositive 4">
            <a:extLst>
              <a:ext uri="{FF2B5EF4-FFF2-40B4-BE49-F238E27FC236}">
                <a16:creationId xmlns:a16="http://schemas.microsoft.com/office/drawing/2014/main" id="{B9823ADB-F972-4181-8698-D138FAAA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8CC4CBA3-825D-4BF7-9987-A48AFD8E639F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11110279" cy="7331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2F2E50A7-4460-413F-B41C-368958D262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735" y="2058829"/>
            <a:ext cx="11110279" cy="40339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85931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67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GRAPHIQUE /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11110279" cy="7331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59F44AAC-26A0-4EF4-AB01-2360253169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46736" y="2058830"/>
            <a:ext cx="11110279" cy="4033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00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GRAPHIQUE /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11110279" cy="7331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15" name="Espace réservé du contenu 5">
            <a:extLst>
              <a:ext uri="{FF2B5EF4-FFF2-40B4-BE49-F238E27FC236}">
                <a16:creationId xmlns:a16="http://schemas.microsoft.com/office/drawing/2014/main" id="{A006ED75-A3A0-448F-9FD2-2992FDEF3D2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46736" y="2058830"/>
            <a:ext cx="11110279" cy="4033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85931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09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DROIT -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498D3FD-06D0-47F0-99E6-70B9A0D8A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4740" y="1004889"/>
            <a:ext cx="8011160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79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DROIT -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6CEF59-9A1F-4987-B60A-EB12CB62D405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8" name="Espace réservé de la date 2">
            <a:extLst>
              <a:ext uri="{FF2B5EF4-FFF2-40B4-BE49-F238E27FC236}">
                <a16:creationId xmlns:a16="http://schemas.microsoft.com/office/drawing/2014/main" id="{997A6C7B-1E01-44A3-A30F-86739FB6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8669309B-4632-4217-A02C-D6225A9D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20" name="Espace réservé du numéro de diapositive 4">
            <a:extLst>
              <a:ext uri="{FF2B5EF4-FFF2-40B4-BE49-F238E27FC236}">
                <a16:creationId xmlns:a16="http://schemas.microsoft.com/office/drawing/2014/main" id="{C66E4DE3-1D71-498B-902F-73192855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A441B899-BB89-42CD-AE90-134180E389A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13DC7733-4377-4A8E-8208-88D90E04BA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4740" y="1004889"/>
            <a:ext cx="8011160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60115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37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DROIT 2 BLOCS -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8DFFD5C2-A728-4DF7-A274-99AF89458C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4741" y="1004889"/>
            <a:ext cx="3893820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D8D6C436-0C1E-48D7-96CD-B44224C0F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8099" y="1004889"/>
            <a:ext cx="3893820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36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DROIT 2 BLOCS -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13E07CE-D24D-4855-A6C6-B00241AA848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9" name="Espace réservé de la date 2">
            <a:extLst>
              <a:ext uri="{FF2B5EF4-FFF2-40B4-BE49-F238E27FC236}">
                <a16:creationId xmlns:a16="http://schemas.microsoft.com/office/drawing/2014/main" id="{E201BCC9-A9D9-4AFD-91B0-6165B2B9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20" name="Espace réservé du pied de page 3">
            <a:extLst>
              <a:ext uri="{FF2B5EF4-FFF2-40B4-BE49-F238E27FC236}">
                <a16:creationId xmlns:a16="http://schemas.microsoft.com/office/drawing/2014/main" id="{D6E55BC2-327D-46BF-B869-0CFF602C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21" name="Espace réservé du numéro de diapositive 4">
            <a:extLst>
              <a:ext uri="{FF2B5EF4-FFF2-40B4-BE49-F238E27FC236}">
                <a16:creationId xmlns:a16="http://schemas.microsoft.com/office/drawing/2014/main" id="{C3F62872-7203-4174-93D3-EE7CFE3E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0FAA084-C438-4835-B3F4-F98E3DFC04E6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24" name="Espace réservé du texte 15">
            <a:extLst>
              <a:ext uri="{FF2B5EF4-FFF2-40B4-BE49-F238E27FC236}">
                <a16:creationId xmlns:a16="http://schemas.microsoft.com/office/drawing/2014/main" id="{3E20F532-0CD6-4D27-A22C-FE169BCB22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4741" y="1004889"/>
            <a:ext cx="3893820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DF37CA65-707C-4BBF-A709-76DF5EFB6F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8099" y="1004889"/>
            <a:ext cx="3893820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85931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16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+ BLOC CHIFFRE -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28758F97-CE00-413F-AC64-8178719D5D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6800" y="1004889"/>
            <a:ext cx="2969555" cy="192357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66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963F17C5-E77F-4116-92C6-4BCD961EF3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800" y="3120870"/>
            <a:ext cx="2969555" cy="29719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55A0F25C-604D-4D6C-8BF8-1B58A0C7F6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4741" y="1004889"/>
            <a:ext cx="4806031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976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+ BLOC CHIFFRE -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464654B-0A7D-40BA-AEF9-5953F41D1DDD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0" name="Espace réservé de la date 2">
            <a:extLst>
              <a:ext uri="{FF2B5EF4-FFF2-40B4-BE49-F238E27FC236}">
                <a16:creationId xmlns:a16="http://schemas.microsoft.com/office/drawing/2014/main" id="{450AF368-A648-4D4A-9B39-D4914B1E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21" name="Espace réservé du pied de page 3">
            <a:extLst>
              <a:ext uri="{FF2B5EF4-FFF2-40B4-BE49-F238E27FC236}">
                <a16:creationId xmlns:a16="http://schemas.microsoft.com/office/drawing/2014/main" id="{6322A4EC-7FAC-4736-A169-B126FFE6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52873239-B053-4D9D-8A56-2FCFA836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1FDEFD51-8121-44F6-844C-8F96E8D60208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28758F97-CE00-413F-AC64-8178719D5D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6800" y="1004889"/>
            <a:ext cx="2969555" cy="192357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66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963F17C5-E77F-4116-92C6-4BCD961EF3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800" y="3120870"/>
            <a:ext cx="2969555" cy="29719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952CC46F-7A14-4362-810A-8948BF1A8A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4741" y="1004889"/>
            <a:ext cx="4806031" cy="50879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85931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7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GRAPHIQUE DROIT -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E9280960-04BF-4A2B-B337-0F5967F6E8F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35375" y="1004250"/>
            <a:ext cx="8021639" cy="5088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799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GRAPHIQUE DROIT -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880785-17DB-4EDD-B478-E3B7EF8ADA29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8" name="Espace réservé de la date 2">
            <a:extLst>
              <a:ext uri="{FF2B5EF4-FFF2-40B4-BE49-F238E27FC236}">
                <a16:creationId xmlns:a16="http://schemas.microsoft.com/office/drawing/2014/main" id="{B7DA7B91-449E-4B7D-B6C0-143E6084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CD22C318-6FE1-4179-A612-638937F8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20" name="Espace réservé du numéro de diapositive 4">
            <a:extLst>
              <a:ext uri="{FF2B5EF4-FFF2-40B4-BE49-F238E27FC236}">
                <a16:creationId xmlns:a16="http://schemas.microsoft.com/office/drawing/2014/main" id="{BADA085E-5D3B-4233-A73D-54FEBA50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8D13561-E817-4427-901F-67EA59C172D7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3AFFA0-0A81-485C-9E61-5C0E888C7E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24" name="Espace réservé du contenu 5">
            <a:extLst>
              <a:ext uri="{FF2B5EF4-FFF2-40B4-BE49-F238E27FC236}">
                <a16:creationId xmlns:a16="http://schemas.microsoft.com/office/drawing/2014/main" id="{F22ACADC-DE3A-44A5-A623-9FE6D26C52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35375" y="1004250"/>
            <a:ext cx="8021639" cy="5088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85931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14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2 BLOCS -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E19945-AB79-4FE8-90A2-D2BEE930089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11110279" cy="7331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70F90ED0-DC18-4AD4-81B4-10DC82B0E3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736" y="2058829"/>
            <a:ext cx="5342621" cy="40339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78E21A6D-14FC-4A97-B672-D6FD4B9C68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3734" y="2058829"/>
            <a:ext cx="5342621" cy="40339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709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2 BLOCS -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188AA09-A9A3-45DC-8B83-4EAC63912D6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CF14633D-98F5-4C03-9642-16C561EC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3ADD5FEC-CB93-402A-981D-41C40B02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C27B07F6-B497-478D-A47D-04A8227D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FE749C64-12CC-41DA-8267-E34072B1FE32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B1AC85-9424-4FDD-921F-C85C6F45A685}"/>
              </a:ext>
            </a:extLst>
          </p:cNvPr>
          <p:cNvSpPr/>
          <p:nvPr userDrawn="1"/>
        </p:nvSpPr>
        <p:spPr>
          <a:xfrm>
            <a:off x="289618" y="764382"/>
            <a:ext cx="11612767" cy="555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Titre 7">
            <a:extLst>
              <a:ext uri="{FF2B5EF4-FFF2-40B4-BE49-F238E27FC236}">
                <a16:creationId xmlns:a16="http://schemas.microsoft.com/office/drawing/2014/main" id="{BE92CA97-6D06-44E0-9D16-D97A370F9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11110279" cy="7331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22" name="Espace réservé du texte 15">
            <a:extLst>
              <a:ext uri="{FF2B5EF4-FFF2-40B4-BE49-F238E27FC236}">
                <a16:creationId xmlns:a16="http://schemas.microsoft.com/office/drawing/2014/main" id="{8C07DD58-E7D2-40BD-A89A-AC7E06196A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736" y="2058829"/>
            <a:ext cx="5342621" cy="40339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CF779E44-E2EC-4D2A-AFA1-9A27B90CEE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3734" y="2058829"/>
            <a:ext cx="5342621" cy="40339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B67A429-1BFC-45BB-AF57-E672523EE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85931" y="267971"/>
            <a:ext cx="67427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3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 - VISUELS + BLOC TEXT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5">
            <a:extLst>
              <a:ext uri="{FF2B5EF4-FFF2-40B4-BE49-F238E27FC236}">
                <a16:creationId xmlns:a16="http://schemas.microsoft.com/office/drawing/2014/main" id="{615A5E31-7B34-4A72-B9B5-97E63E2012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7">
            <a:extLst>
              <a:ext uri="{FF2B5EF4-FFF2-40B4-BE49-F238E27FC236}">
                <a16:creationId xmlns:a16="http://schemas.microsoft.com/office/drawing/2014/main" id="{260AB5F5-6235-4D17-A057-D7AFB99C2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716" y="1004253"/>
            <a:ext cx="7599045" cy="10760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F6A80B-12D2-433F-A4F4-A281E1294B78}"/>
              </a:ext>
            </a:extLst>
          </p:cNvPr>
          <p:cNvSpPr/>
          <p:nvPr userDrawn="1"/>
        </p:nvSpPr>
        <p:spPr>
          <a:xfrm>
            <a:off x="3771900" y="2362200"/>
            <a:ext cx="8130483" cy="39598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0601D67A-B673-48EF-A57B-C9EE9629E5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2572335"/>
            <a:ext cx="72790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52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 - VISUELS + 2 BLOCS TEXT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4FDE74E6-DA66-44C8-904B-DCC98506BF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43B606-774F-48F8-85AB-0C343EDA0691}"/>
              </a:ext>
            </a:extLst>
          </p:cNvPr>
          <p:cNvSpPr/>
          <p:nvPr userDrawn="1"/>
        </p:nvSpPr>
        <p:spPr>
          <a:xfrm>
            <a:off x="3771900" y="2362200"/>
            <a:ext cx="8130483" cy="39598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60AB5F5-6235-4D17-A057-D7AFB99C2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716" y="1004253"/>
            <a:ext cx="7599045" cy="10760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C5736518-4AF1-403B-AD8E-C88EF29C9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48887487-3D12-45FC-B4DB-A0E8FDBEDF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8613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AB5D69E-6A74-464D-A38E-63F5B49396D6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757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 - VISUELS + 2 BLOCS TEXT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208B1D93-6807-451B-8664-45ED4146C2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B8BAD18-4F66-4E5A-A755-0C7F215AA879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243B606-774F-48F8-85AB-0C343EDA0691}"/>
              </a:ext>
            </a:extLst>
          </p:cNvPr>
          <p:cNvSpPr/>
          <p:nvPr userDrawn="1"/>
        </p:nvSpPr>
        <p:spPr>
          <a:xfrm>
            <a:off x="3771900" y="2362200"/>
            <a:ext cx="8130483" cy="3959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60AB5F5-6235-4D17-A057-D7AFB99C2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716" y="1004253"/>
            <a:ext cx="7599045" cy="10760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C5736518-4AF1-403B-AD8E-C88EF29C9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48887487-3D12-45FC-B4DB-A0E8FDBEDF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8613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771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 - VISUELS + 2 BLOCS TEXT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FCEA5F59-47A1-4A61-85D8-948D9579E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E49871B-CB2B-4042-99B1-12D1326CA7DA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243B606-774F-48F8-85AB-0C343EDA0691}"/>
              </a:ext>
            </a:extLst>
          </p:cNvPr>
          <p:cNvSpPr/>
          <p:nvPr userDrawn="1"/>
        </p:nvSpPr>
        <p:spPr>
          <a:xfrm>
            <a:off x="3771900" y="2362200"/>
            <a:ext cx="8130483" cy="39598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60AB5F5-6235-4D17-A057-D7AFB99C2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716" y="1004253"/>
            <a:ext cx="7599045" cy="10760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C5736518-4AF1-403B-AD8E-C88EF29C9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48887487-3D12-45FC-B4DB-A0E8FDBEDF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8613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405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 - VISUELS + 2 BLOCS TEXTE 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0D7E86B2-A701-431F-971C-D6805EE95C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F117551-41FD-409C-B679-8E68A0A9222B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243B606-774F-48F8-85AB-0C343EDA0691}"/>
              </a:ext>
            </a:extLst>
          </p:cNvPr>
          <p:cNvSpPr/>
          <p:nvPr userDrawn="1"/>
        </p:nvSpPr>
        <p:spPr>
          <a:xfrm>
            <a:off x="3771900" y="2362200"/>
            <a:ext cx="8130483" cy="39598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60AB5F5-6235-4D17-A057-D7AFB99C2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716" y="1004253"/>
            <a:ext cx="7599045" cy="10760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C5736518-4AF1-403B-AD8E-C88EF29C9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48887487-3D12-45FC-B4DB-A0E8FDBEDF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8613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889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 - VISUELS + 2 BLOCS TEXTE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00A3DF0F-04A7-4944-9047-2E01F715E1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7719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CD8F596-DC7E-41D0-AD25-C09DA5C26250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243B606-774F-48F8-85AB-0C343EDA0691}"/>
              </a:ext>
            </a:extLst>
          </p:cNvPr>
          <p:cNvSpPr/>
          <p:nvPr userDrawn="1"/>
        </p:nvSpPr>
        <p:spPr>
          <a:xfrm>
            <a:off x="3771900" y="2362200"/>
            <a:ext cx="8130483" cy="39598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60AB5F5-6235-4D17-A057-D7AFB99C2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716" y="1004253"/>
            <a:ext cx="7599045" cy="10760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C5736518-4AF1-403B-AD8E-C88EF29C9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48887487-3D12-45FC-B4DB-A0E8FDBEDF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8613" y="2572335"/>
            <a:ext cx="3507105" cy="35448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099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EXTE GAUCHE + VISUEL DRO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7">
            <a:extLst>
              <a:ext uri="{FF2B5EF4-FFF2-40B4-BE49-F238E27FC236}">
                <a16:creationId xmlns:a16="http://schemas.microsoft.com/office/drawing/2014/main" id="{B6865195-2830-4EBE-8A6A-80A92F351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5006335" cy="10607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55B28863-FA42-4BEE-A81C-C3B9EEBC53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1004250"/>
            <a:ext cx="5806383" cy="5317806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5EA072BB-10C6-4A99-9AD6-EF35A771F6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6737" y="2301500"/>
            <a:ext cx="5006335" cy="40205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25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 TEXTE GAUCHE + VISUEL DRO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7">
            <a:extLst>
              <a:ext uri="{FF2B5EF4-FFF2-40B4-BE49-F238E27FC236}">
                <a16:creationId xmlns:a16="http://schemas.microsoft.com/office/drawing/2014/main" id="{B6865195-2830-4EBE-8A6A-80A92F351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6" y="1004253"/>
            <a:ext cx="7164705" cy="10607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55B28863-FA42-4BEE-A81C-C3B9EEBC53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52460" y="1004250"/>
            <a:ext cx="3649923" cy="5317806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301B5A0-8F95-4ED9-A647-39DB825C41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6737" y="2301500"/>
            <a:ext cx="7164703" cy="40205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0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3 TEXTE GAUCHE + VISUEL DRO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5">
            <a:extLst>
              <a:ext uri="{FF2B5EF4-FFF2-40B4-BE49-F238E27FC236}">
                <a16:creationId xmlns:a16="http://schemas.microsoft.com/office/drawing/2014/main" id="{D80422EF-E82A-4C71-9CF8-EF893DE11A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1002615"/>
            <a:ext cx="5806381" cy="5317804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7">
            <a:extLst>
              <a:ext uri="{FF2B5EF4-FFF2-40B4-BE49-F238E27FC236}">
                <a16:creationId xmlns:a16="http://schemas.microsoft.com/office/drawing/2014/main" id="{B6865195-2830-4EBE-8A6A-80A92F351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3"/>
            <a:ext cx="5006335" cy="10607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A3980A-F01E-4F57-888D-B1160291F8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77276" y="5533344"/>
            <a:ext cx="3225107" cy="33029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LÉGENDE OU MISE EN EXERGUE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CA88AE28-B752-43E5-9939-1D155F5C61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6737" y="2301500"/>
            <a:ext cx="5006335" cy="40205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10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3 VISU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re 7">
            <a:extLst>
              <a:ext uri="{FF2B5EF4-FFF2-40B4-BE49-F238E27FC236}">
                <a16:creationId xmlns:a16="http://schemas.microsoft.com/office/drawing/2014/main" id="{B6865195-2830-4EBE-8A6A-80A92F351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4" y="1004253"/>
            <a:ext cx="11119483" cy="72548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DEUX LIGNES 24pt</a:t>
            </a:r>
          </a:p>
        </p:txBody>
      </p:sp>
      <p:sp>
        <p:nvSpPr>
          <p:cNvPr id="16" name="Espace réservé pour une image  5">
            <a:extLst>
              <a:ext uri="{FF2B5EF4-FFF2-40B4-BE49-F238E27FC236}">
                <a16:creationId xmlns:a16="http://schemas.microsoft.com/office/drawing/2014/main" id="{37DF653B-736C-4F22-B758-4680DE01C3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51491" y="1958340"/>
            <a:ext cx="3514727" cy="4363716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7" name="Espace réservé pour une image  5">
            <a:extLst>
              <a:ext uri="{FF2B5EF4-FFF2-40B4-BE49-F238E27FC236}">
                <a16:creationId xmlns:a16="http://schemas.microsoft.com/office/drawing/2014/main" id="{12B9C6BF-05CF-4CDD-874C-DB411966EB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6734" y="1958340"/>
            <a:ext cx="3514727" cy="4363716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8" name="Espace réservé pour une image  5">
            <a:extLst>
              <a:ext uri="{FF2B5EF4-FFF2-40B4-BE49-F238E27FC236}">
                <a16:creationId xmlns:a16="http://schemas.microsoft.com/office/drawing/2014/main" id="{E608538E-DD69-43BB-8918-1FA2EF302E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49112" y="1958340"/>
            <a:ext cx="3514727" cy="4363716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435B01C-05E9-4398-BF11-CE62A8AF06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1543" y="5533344"/>
            <a:ext cx="3225107" cy="3302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LÉGENDE OU MISE EN EXERGUE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B5C3421B-ABB0-41C7-B69D-F4F36B46A7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3921" y="5533344"/>
            <a:ext cx="3225107" cy="3302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LÉGENDE OU MISE EN EXERGUE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8B9CAFC8-2D8D-409E-884B-D49FEC2A76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96301" y="5533344"/>
            <a:ext cx="3225107" cy="3302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LÉGENDE OU MISE EN EXERGUE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10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ITRE JAUNE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3D0395C-3F1D-476C-9B4C-BA210B3CA438}"/>
              </a:ext>
            </a:extLst>
          </p:cNvPr>
          <p:cNvSpPr/>
          <p:nvPr userDrawn="1"/>
        </p:nvSpPr>
        <p:spPr>
          <a:xfrm flipH="1">
            <a:off x="1" y="0"/>
            <a:ext cx="3771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re 7">
            <a:extLst>
              <a:ext uri="{FF2B5EF4-FFF2-40B4-BE49-F238E27FC236}">
                <a16:creationId xmlns:a16="http://schemas.microsoft.com/office/drawing/2014/main" id="{C45BAC2F-83D7-4EFF-A9FB-C1C4FA9AE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/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2374AF28-6633-4AEC-B6DB-CDD91A7F3E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830EB677-997B-4060-B42A-04DC609B49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1004252"/>
            <a:ext cx="7448551" cy="51146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65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TITRE NOIR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3D0395C-3F1D-476C-9B4C-BA210B3CA438}"/>
              </a:ext>
            </a:extLst>
          </p:cNvPr>
          <p:cNvSpPr/>
          <p:nvPr userDrawn="1"/>
        </p:nvSpPr>
        <p:spPr>
          <a:xfrm flipH="1">
            <a:off x="1" y="0"/>
            <a:ext cx="37719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re 7">
            <a:extLst>
              <a:ext uri="{FF2B5EF4-FFF2-40B4-BE49-F238E27FC236}">
                <a16:creationId xmlns:a16="http://schemas.microsoft.com/office/drawing/2014/main" id="{C45BAC2F-83D7-4EFF-A9FB-C1C4FA9AE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/>
          <a:lstStyle>
            <a:lvl1pPr algn="l">
              <a:tabLst>
                <a:tab pos="266693" algn="l"/>
              </a:tabLst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2374AF28-6633-4AEC-B6DB-CDD91A7F3E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833B2FE-2872-4A35-B517-3FEB225BA6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6714" y="1004252"/>
            <a:ext cx="3590927" cy="51146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4D15E1AD-5E7B-4FA8-B130-A418119F7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959" y="1004252"/>
            <a:ext cx="3590927" cy="51146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0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NOIR JAU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B0F8E6-0830-4029-94B4-FE21DFE41927}"/>
              </a:ext>
            </a:extLst>
          </p:cNvPr>
          <p:cNvSpPr/>
          <p:nvPr userDrawn="1"/>
        </p:nvSpPr>
        <p:spPr>
          <a:xfrm flipH="1">
            <a:off x="5600701" y="0"/>
            <a:ext cx="6591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0395C-3F1D-476C-9B4C-BA210B3CA438}"/>
              </a:ext>
            </a:extLst>
          </p:cNvPr>
          <p:cNvSpPr/>
          <p:nvPr userDrawn="1"/>
        </p:nvSpPr>
        <p:spPr>
          <a:xfrm flipH="1">
            <a:off x="1" y="0"/>
            <a:ext cx="5600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re 7">
            <a:extLst>
              <a:ext uri="{FF2B5EF4-FFF2-40B4-BE49-F238E27FC236}">
                <a16:creationId xmlns:a16="http://schemas.microsoft.com/office/drawing/2014/main" id="{C45BAC2F-83D7-4EFF-A9FB-C1C4FA9AE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5" y="1004252"/>
            <a:ext cx="4510699" cy="2073275"/>
          </a:xfrm>
          <a:prstGeom prst="rect">
            <a:avLst/>
          </a:prstGeom>
        </p:spPr>
        <p:txBody>
          <a:bodyPr/>
          <a:lstStyle>
            <a:lvl1pPr algn="l">
              <a:tabLst>
                <a:tab pos="266693" algn="l"/>
              </a:tabLst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2374AF28-6633-4AEC-B6DB-CDD91A7F3E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6735" y="3252150"/>
            <a:ext cx="4510699" cy="13884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10CDB8B-30B7-4777-BD2E-540F7570F2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004252"/>
            <a:ext cx="5556885" cy="51146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42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5">
            <a:extLst>
              <a:ext uri="{FF2B5EF4-FFF2-40B4-BE49-F238E27FC236}">
                <a16:creationId xmlns:a16="http://schemas.microsoft.com/office/drawing/2014/main" id="{6E59A080-FC92-4031-AB1E-72A6788854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D492AC69-A3AE-44BC-A14D-61C91D7C84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271590"/>
            <a:ext cx="3360309" cy="4847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 + TEXT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3C146FBF-C71F-427A-8C61-10A8C14881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4CD2F-8967-43AC-907B-104B6C3E4B0E}"/>
              </a:ext>
            </a:extLst>
          </p:cNvPr>
          <p:cNvSpPr/>
          <p:nvPr userDrawn="1"/>
        </p:nvSpPr>
        <p:spPr>
          <a:xfrm>
            <a:off x="8252461" y="1004250"/>
            <a:ext cx="3939540" cy="5317806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7392FDC0-DB06-4CD4-AB09-098A808D8E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271590"/>
            <a:ext cx="3360309" cy="48472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94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 + CHIFF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5">
            <a:extLst>
              <a:ext uri="{FF2B5EF4-FFF2-40B4-BE49-F238E27FC236}">
                <a16:creationId xmlns:a16="http://schemas.microsoft.com/office/drawing/2014/main" id="{92F6DD1B-5987-4C20-9113-67A7AE9168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15">
            <a:extLst>
              <a:ext uri="{FF2B5EF4-FFF2-40B4-BE49-F238E27FC236}">
                <a16:creationId xmlns:a16="http://schemas.microsoft.com/office/drawing/2014/main" id="{2D1A6DE0-F595-42B3-BE2F-8C23B649B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1271588"/>
            <a:ext cx="3360309" cy="174807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66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0E9E89CB-A409-4011-B3C0-5A0BC2A87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9640" y="3166353"/>
            <a:ext cx="3360309" cy="2922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 + CHIFFRE CADR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5">
            <a:extLst>
              <a:ext uri="{FF2B5EF4-FFF2-40B4-BE49-F238E27FC236}">
                <a16:creationId xmlns:a16="http://schemas.microsoft.com/office/drawing/2014/main" id="{F69010EF-F964-4A4E-AF52-0E3776406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anchor="b"/>
          <a:lstStyle>
            <a:lvl1pPr marL="0" indent="0">
              <a:buNone/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4CD2F-8967-43AC-907B-104B6C3E4B0E}"/>
              </a:ext>
            </a:extLst>
          </p:cNvPr>
          <p:cNvSpPr/>
          <p:nvPr userDrawn="1"/>
        </p:nvSpPr>
        <p:spPr>
          <a:xfrm>
            <a:off x="8252461" y="1004250"/>
            <a:ext cx="3939540" cy="5317806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0" name="Espace réservé du texte 15">
            <a:extLst>
              <a:ext uri="{FF2B5EF4-FFF2-40B4-BE49-F238E27FC236}">
                <a16:creationId xmlns:a16="http://schemas.microsoft.com/office/drawing/2014/main" id="{2D1A6DE0-F595-42B3-BE2F-8C23B649B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1271588"/>
            <a:ext cx="3360309" cy="174807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66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0E9E89CB-A409-4011-B3C0-5A0BC2A87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9640" y="3166353"/>
            <a:ext cx="3360309" cy="2922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57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 CLÉ + TEXTE NOIR /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5BBBBA-DC78-4656-8F4B-55A2B122EC08}"/>
              </a:ext>
            </a:extLst>
          </p:cNvPr>
          <p:cNvSpPr/>
          <p:nvPr userDrawn="1"/>
        </p:nvSpPr>
        <p:spPr>
          <a:xfrm flipH="1">
            <a:off x="1" y="0"/>
            <a:ext cx="61569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schemeClr val="bg1"/>
              </a:solidFill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15">
            <a:extLst>
              <a:ext uri="{FF2B5EF4-FFF2-40B4-BE49-F238E27FC236}">
                <a16:creationId xmlns:a16="http://schemas.microsoft.com/office/drawing/2014/main" id="{2D1A6DE0-F595-42B3-BE2F-8C23B649B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4727" y="1271588"/>
            <a:ext cx="4945495" cy="1748076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0E9E89CB-A409-4011-B3C0-5A0BC2A87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727" y="3166351"/>
            <a:ext cx="4945495" cy="295251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868CC8E-4101-48CD-874B-B754927D5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1004253"/>
            <a:ext cx="5212080" cy="1076009"/>
          </a:xfrm>
          <a:prstGeom prst="rect">
            <a:avLst/>
          </a:prstGeom>
        </p:spPr>
        <p:txBody>
          <a:bodyPr/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6A6EE510-6EE6-4CCA-9476-A1125A10C6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83681" y="2191857"/>
            <a:ext cx="5212080" cy="39270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76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 CLÉ + TEXTE JAUNE /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5BBBBA-DC78-4656-8F4B-55A2B122EC08}"/>
              </a:ext>
            </a:extLst>
          </p:cNvPr>
          <p:cNvSpPr/>
          <p:nvPr userDrawn="1"/>
        </p:nvSpPr>
        <p:spPr>
          <a:xfrm flipH="1">
            <a:off x="1" y="0"/>
            <a:ext cx="615695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15">
            <a:extLst>
              <a:ext uri="{FF2B5EF4-FFF2-40B4-BE49-F238E27FC236}">
                <a16:creationId xmlns:a16="http://schemas.microsoft.com/office/drawing/2014/main" id="{2D1A6DE0-F595-42B3-BE2F-8C23B649B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4727" y="1271588"/>
            <a:ext cx="4945495" cy="1748076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8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0E9E89CB-A409-4011-B3C0-5A0BC2A87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727" y="3166351"/>
            <a:ext cx="4945495" cy="295251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868CC8E-4101-48CD-874B-B754927D5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1004253"/>
            <a:ext cx="5212080" cy="1076009"/>
          </a:xfrm>
          <a:prstGeom prst="rect">
            <a:avLst/>
          </a:prstGeom>
        </p:spPr>
        <p:txBody>
          <a:bodyPr/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F39AAC60-525C-493F-8AD0-1ED3D095E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83681" y="2191857"/>
            <a:ext cx="5212080" cy="39270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6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 CLÉ + TEXTE NOIR / JAU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5BBBBA-DC78-4656-8F4B-55A2B122EC08}"/>
              </a:ext>
            </a:extLst>
          </p:cNvPr>
          <p:cNvSpPr/>
          <p:nvPr userDrawn="1"/>
        </p:nvSpPr>
        <p:spPr>
          <a:xfrm>
            <a:off x="6156957" y="0"/>
            <a:ext cx="603504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2868CC8E-4101-48CD-874B-B754927D5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1004253"/>
            <a:ext cx="5212080" cy="1076009"/>
          </a:xfrm>
          <a:prstGeom prst="rect">
            <a:avLst/>
          </a:prstGeom>
        </p:spPr>
        <p:txBody>
          <a:bodyPr/>
          <a:lstStyle>
            <a:lvl1pPr algn="l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E7A4C-0A26-4136-B689-B94EF98A086C}"/>
              </a:ext>
            </a:extLst>
          </p:cNvPr>
          <p:cNvSpPr/>
          <p:nvPr userDrawn="1"/>
        </p:nvSpPr>
        <p:spPr>
          <a:xfrm flipH="1">
            <a:off x="1" y="0"/>
            <a:ext cx="61569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schemeClr val="bg1"/>
              </a:solidFill>
            </a:endParaRPr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74B7A2E9-0CB6-44E5-B888-17832439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62034439-4929-4118-AACC-DD3F2860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825A2579-9C2C-4909-9F06-C686FF6F5CF3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73F110A3-AF33-4049-915A-51AB1B9C1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4727" y="1271588"/>
            <a:ext cx="4945495" cy="1748076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800">
                <a:solidFill>
                  <a:schemeClr val="accent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FC1D0F7F-DF04-4C88-88DA-A5F91DA489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727" y="3166351"/>
            <a:ext cx="4945495" cy="295251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22" name="Espace réservé du texte 15">
            <a:extLst>
              <a:ext uri="{FF2B5EF4-FFF2-40B4-BE49-F238E27FC236}">
                <a16:creationId xmlns:a16="http://schemas.microsoft.com/office/drawing/2014/main" id="{81E8E4BA-550D-49ED-A868-09742E689F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83681" y="2191857"/>
            <a:ext cx="5212080" cy="39270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lvl2pPr>
            <a:lvl3pPr marL="361942" indent="-1841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3pPr>
            <a:lvl4pPr marL="539737" indent="-17779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Texte courant 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1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CHIFF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5BBBBA-DC78-4656-8F4B-55A2B122EC08}"/>
              </a:ext>
            </a:extLst>
          </p:cNvPr>
          <p:cNvSpPr/>
          <p:nvPr userDrawn="1"/>
        </p:nvSpPr>
        <p:spPr>
          <a:xfrm>
            <a:off x="6156957" y="0"/>
            <a:ext cx="603504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15">
            <a:extLst>
              <a:ext uri="{FF2B5EF4-FFF2-40B4-BE49-F238E27FC236}">
                <a16:creationId xmlns:a16="http://schemas.microsoft.com/office/drawing/2014/main" id="{2D1A6DE0-F595-42B3-BE2F-8C23B649B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7867" y="1271588"/>
            <a:ext cx="4945495" cy="1748076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0E9E89CB-A409-4011-B3C0-5A0BC2A87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7867" y="3166351"/>
            <a:ext cx="4945495" cy="295251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340F3DE0-7B29-41EA-A78E-37FD0017D0C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89618" y="1271590"/>
            <a:ext cx="5577721" cy="4847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B8AC735-A191-4575-8AA0-D425AC914C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69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6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CHIFFR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5BBBBA-DC78-4656-8F4B-55A2B122EC08}"/>
              </a:ext>
            </a:extLst>
          </p:cNvPr>
          <p:cNvSpPr/>
          <p:nvPr userDrawn="1"/>
        </p:nvSpPr>
        <p:spPr>
          <a:xfrm>
            <a:off x="6156957" y="0"/>
            <a:ext cx="603504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15">
            <a:extLst>
              <a:ext uri="{FF2B5EF4-FFF2-40B4-BE49-F238E27FC236}">
                <a16:creationId xmlns:a16="http://schemas.microsoft.com/office/drawing/2014/main" id="{2D1A6DE0-F595-42B3-BE2F-8C23B649B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7867" y="1271588"/>
            <a:ext cx="4945495" cy="1748076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8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0E9E89CB-A409-4011-B3C0-5A0BC2A87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7867" y="3166351"/>
            <a:ext cx="4945495" cy="295251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sp>
        <p:nvSpPr>
          <p:cNvPr id="15" name="Espace réservé du contenu 5">
            <a:extLst>
              <a:ext uri="{FF2B5EF4-FFF2-40B4-BE49-F238E27FC236}">
                <a16:creationId xmlns:a16="http://schemas.microsoft.com/office/drawing/2014/main" id="{F58D70A8-C9F7-4CB8-99B6-EA2C892C77E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89618" y="1271590"/>
            <a:ext cx="5577721" cy="4847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313BB03-AE33-43E5-B134-BB6143E31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17320"/>
            <a:ext cx="692469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37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JAUNE + CHIFF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B889AD7-F8CC-46DF-86FF-69303D021800}"/>
              </a:ext>
            </a:extLst>
          </p:cNvPr>
          <p:cNvSpPr/>
          <p:nvPr userDrawn="1"/>
        </p:nvSpPr>
        <p:spPr>
          <a:xfrm>
            <a:off x="6156957" y="0"/>
            <a:ext cx="603504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5BBBBA-DC78-4656-8F4B-55A2B122EC08}"/>
              </a:ext>
            </a:extLst>
          </p:cNvPr>
          <p:cNvSpPr/>
          <p:nvPr userDrawn="1"/>
        </p:nvSpPr>
        <p:spPr>
          <a:xfrm flipH="1">
            <a:off x="1" y="0"/>
            <a:ext cx="615695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AEE97DAD-6C50-4919-86AE-DE2AF0DA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435FE6F7-6252-4D0A-A712-F4BAD7977A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7867" y="1271588"/>
            <a:ext cx="4945495" cy="1748076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78%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BB2E679C-F078-49E8-BE53-E49B000A83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7867" y="3166351"/>
            <a:ext cx="4945495" cy="295251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2558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 marL="541325" indent="-1825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CHIFFRE CLÉ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B8AC735-A191-4575-8AA0-D425AC914C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69"/>
            <a:ext cx="692469" cy="324000"/>
          </a:xfrm>
          <a:prstGeom prst="rect">
            <a:avLst/>
          </a:prstGeom>
        </p:spPr>
      </p:pic>
      <p:sp>
        <p:nvSpPr>
          <p:cNvPr id="22" name="Espace réservé du contenu 5">
            <a:extLst>
              <a:ext uri="{FF2B5EF4-FFF2-40B4-BE49-F238E27FC236}">
                <a16:creationId xmlns:a16="http://schemas.microsoft.com/office/drawing/2014/main" id="{A8CC8FEC-B695-4203-9302-752D8B3566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89618" y="1271590"/>
            <a:ext cx="5577721" cy="4847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</p:spTree>
    <p:extLst>
      <p:ext uri="{BB962C8B-B14F-4D97-AF65-F5344CB8AC3E}">
        <p14:creationId xmlns:p14="http://schemas.microsoft.com/office/powerpoint/2010/main" val="883349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GRAPH TABLEAU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7">
            <a:extLst>
              <a:ext uri="{FF2B5EF4-FFF2-40B4-BE49-F238E27FC236}">
                <a16:creationId xmlns:a16="http://schemas.microsoft.com/office/drawing/2014/main" id="{73B461BA-D0CC-4038-BAD0-E6C7BBE4C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/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9C9BAF4-DC0A-455C-9E42-AF52F63213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737" y="3252150"/>
            <a:ext cx="2684145" cy="138843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fr-FR"/>
              <a:t>Sous-titre ou chapô sur une ou plusieurs lignes 14pt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001B514D-9320-4990-BEF5-CC52B560169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635375" y="1004889"/>
            <a:ext cx="8021639" cy="5087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fr-FR"/>
              <a:t>Graphique / Tableau / Image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2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8EE62-5B3C-48BD-A9CA-6F5F56FC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BD8EA-4E88-43F1-A390-A28640F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BF5E5-D61C-4529-B239-FEBBB0F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166E7D4-7CF1-4839-9EBF-9267F4710F8C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21469"/>
            <a:ext cx="0" cy="121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7">
            <a:extLst>
              <a:ext uri="{FF2B5EF4-FFF2-40B4-BE49-F238E27FC236}">
                <a16:creationId xmlns:a16="http://schemas.microsoft.com/office/drawing/2014/main" id="{9E7CDC07-0AC4-447F-9B9B-187F84839B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37" y="1004252"/>
            <a:ext cx="2684145" cy="2073275"/>
          </a:xfrm>
          <a:prstGeom prst="rect">
            <a:avLst/>
          </a:prstGeom>
        </p:spPr>
        <p:txBody>
          <a:bodyPr/>
          <a:lstStyle>
            <a:lvl1pPr algn="r">
              <a:tabLst>
                <a:tab pos="266693" algn="l"/>
              </a:tabLst>
              <a:defRPr sz="2400"/>
            </a:lvl1pPr>
          </a:lstStyle>
          <a:p>
            <a:r>
              <a:rPr lang="fr-FR"/>
              <a:t>TITRE DE LA PAGE SUR UNE OU PLUSIEURS LIGNES 24pt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909A293-8B15-497B-BC24-DD06D2829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0115" y="321471"/>
            <a:ext cx="691200" cy="3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02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E755D4-295C-47BA-9555-3FBD074DCC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441D5BF-D45F-4256-8F25-AAA6A65BB475}"/>
              </a:ext>
            </a:extLst>
          </p:cNvPr>
          <p:cNvSpPr txBox="1"/>
          <p:nvPr userDrawn="1"/>
        </p:nvSpPr>
        <p:spPr>
          <a:xfrm>
            <a:off x="3792230" y="2644173"/>
            <a:ext cx="4607543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9600">
                <a:latin typeface="+mj-lt"/>
              </a:rPr>
              <a:t>MERCI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7ED6C3-B246-47E4-B743-310C5BFA26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3961" y="5935419"/>
            <a:ext cx="1244081" cy="5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22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ADD6A3A-E948-4754-921F-D5617C7C20C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613870"/>
            <a:ext cx="0" cy="253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space réservé de la date 75">
            <a:extLst>
              <a:ext uri="{FF2B5EF4-FFF2-40B4-BE49-F238E27FC236}">
                <a16:creationId xmlns:a16="http://schemas.microsoft.com/office/drawing/2014/main" id="{E5E659A6-AABC-44AC-B652-05D134AF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55437" y="6266210"/>
            <a:ext cx="1333251" cy="365125"/>
          </a:xfrm>
        </p:spPr>
        <p:txBody>
          <a:bodyPr/>
          <a:lstStyle/>
          <a:p>
            <a:r>
              <a:rPr lang="fr-FR"/>
              <a:t>Janvier 2025</a:t>
            </a:r>
          </a:p>
        </p:txBody>
      </p:sp>
      <p:sp>
        <p:nvSpPr>
          <p:cNvPr id="77" name="Espace réservé du pied de page 76">
            <a:extLst>
              <a:ext uri="{FF2B5EF4-FFF2-40B4-BE49-F238E27FC236}">
                <a16:creationId xmlns:a16="http://schemas.microsoft.com/office/drawing/2014/main" id="{BF16E0B0-88EF-4F51-A8BD-15000869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926" y="6266210"/>
            <a:ext cx="4705788" cy="365125"/>
          </a:xfrm>
        </p:spPr>
        <p:txBody>
          <a:bodyPr/>
          <a:lstStyle/>
          <a:p>
            <a:r>
              <a:rPr lang="fr-FR"/>
              <a:t>SAM 1 – Développement Durable</a:t>
            </a:r>
          </a:p>
        </p:txBody>
      </p:sp>
      <p:sp>
        <p:nvSpPr>
          <p:cNvPr id="78" name="Espace réservé du numéro de diapositive 77">
            <a:extLst>
              <a:ext uri="{FF2B5EF4-FFF2-40B4-BE49-F238E27FC236}">
                <a16:creationId xmlns:a16="http://schemas.microsoft.com/office/drawing/2014/main" id="{1B4CEA3F-049C-4B43-A8F9-66D75473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Graphique 22">
            <a:extLst>
              <a:ext uri="{FF2B5EF4-FFF2-40B4-BE49-F238E27FC236}">
                <a16:creationId xmlns:a16="http://schemas.microsoft.com/office/drawing/2014/main" id="{A775F464-3616-4E83-BE7B-35426247BA4D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1" y="5788660"/>
            <a:ext cx="2282563" cy="1315546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21BFD9E9-A181-42A3-8F4C-102CB2BC024C}"/>
              </a:ext>
            </a:extLst>
          </p:cNvPr>
          <p:cNvGrpSpPr/>
          <p:nvPr userDrawn="1"/>
        </p:nvGrpSpPr>
        <p:grpSpPr>
          <a:xfrm>
            <a:off x="12103893" y="332656"/>
            <a:ext cx="88107" cy="1402510"/>
            <a:chOff x="12103894" y="219915"/>
            <a:chExt cx="88106" cy="14730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D14F42-BFF4-44D8-9CF3-9BF868D952B5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CD3936-FA2C-4EA1-9678-8E87B8CF7788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E5A546-A206-4A96-BF58-C858F2D9FB03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EC398E-7E13-432F-AC46-547FE9D07D3E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5682" y="6355458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EA670F-A89B-44C5-98F3-A5E717D628C4}"/>
              </a:ext>
            </a:extLst>
          </p:cNvPr>
          <p:cNvSpPr/>
          <p:nvPr userDrawn="1"/>
        </p:nvSpPr>
        <p:spPr>
          <a:xfrm>
            <a:off x="335362" y="332656"/>
            <a:ext cx="11521279" cy="1299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96294898-58ED-48FD-AA0C-EED1FBF6D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79975" y="332660"/>
            <a:ext cx="5976664" cy="5849069"/>
          </a:xfrm>
          <a:custGeom>
            <a:avLst/>
            <a:gdLst>
              <a:gd name="connsiteX0" fmla="*/ 0 w 5976664"/>
              <a:gd name="connsiteY0" fmla="*/ 0 h 5849069"/>
              <a:gd name="connsiteX1" fmla="*/ 5976664 w 5976664"/>
              <a:gd name="connsiteY1" fmla="*/ 0 h 5849069"/>
              <a:gd name="connsiteX2" fmla="*/ 5976664 w 5976664"/>
              <a:gd name="connsiteY2" fmla="*/ 5849069 h 5849069"/>
              <a:gd name="connsiteX3" fmla="*/ 4632843 w 5976664"/>
              <a:gd name="connsiteY3" fmla="*/ 5849069 h 5849069"/>
              <a:gd name="connsiteX4" fmla="*/ 4632843 w 5976664"/>
              <a:gd name="connsiteY4" fmla="*/ 5844386 h 5849069"/>
              <a:gd name="connsiteX5" fmla="*/ 4632858 w 5976664"/>
              <a:gd name="connsiteY5" fmla="*/ 5844386 h 5849069"/>
              <a:gd name="connsiteX6" fmla="*/ 4632858 w 5976664"/>
              <a:gd name="connsiteY6" fmla="*/ 1371414 h 5849069"/>
              <a:gd name="connsiteX7" fmla="*/ 4628006 w 5976664"/>
              <a:gd name="connsiteY7" fmla="*/ 1371414 h 5849069"/>
              <a:gd name="connsiteX8" fmla="*/ 4628006 w 5976664"/>
              <a:gd name="connsiteY8" fmla="*/ 1299294 h 5849069"/>
              <a:gd name="connsiteX9" fmla="*/ 0 w 5976664"/>
              <a:gd name="connsiteY9" fmla="*/ 1299294 h 584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76664" h="5849069">
                <a:moveTo>
                  <a:pt x="0" y="0"/>
                </a:moveTo>
                <a:lnTo>
                  <a:pt x="5976664" y="0"/>
                </a:lnTo>
                <a:lnTo>
                  <a:pt x="5976664" y="5849069"/>
                </a:lnTo>
                <a:lnTo>
                  <a:pt x="4632843" y="5849069"/>
                </a:lnTo>
                <a:lnTo>
                  <a:pt x="4632843" y="5844386"/>
                </a:lnTo>
                <a:lnTo>
                  <a:pt x="4632858" y="5844386"/>
                </a:lnTo>
                <a:lnTo>
                  <a:pt x="4632858" y="1371414"/>
                </a:lnTo>
                <a:lnTo>
                  <a:pt x="4628006" y="1371414"/>
                </a:lnTo>
                <a:lnTo>
                  <a:pt x="4628006" y="1299294"/>
                </a:lnTo>
                <a:lnTo>
                  <a:pt x="0" y="12992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663462-3421-4CF1-865C-D267CDA43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2" y="473281"/>
            <a:ext cx="11521279" cy="9032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50D1CCD-C5C5-4B50-A8C8-F5A70CD749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3475" y="1988840"/>
            <a:ext cx="8208911" cy="3744416"/>
          </a:xfrm>
        </p:spPr>
        <p:txBody>
          <a:bodyPr tIns="36000" bIns="36000">
            <a:normAutofit/>
          </a:bodyPr>
          <a:lstStyle>
            <a:lvl1pPr marL="342891" marR="0" indent="-342891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 sz="22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8EE6A684-0469-4B25-9B56-0FAFE447ED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40417" y="1988840"/>
            <a:ext cx="417427" cy="3841796"/>
          </a:xfrm>
        </p:spPr>
        <p:txBody>
          <a:bodyPr wrap="none" tIns="3600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Tx/>
              <a:buFont typeface="+mj-lt"/>
              <a:buNone/>
              <a:tabLst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00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F746E4F-542F-4108-87C2-17AEB6456FD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955437" y="6266212"/>
            <a:ext cx="1333251" cy="365125"/>
          </a:xfrm>
        </p:spPr>
        <p:txBody>
          <a:bodyPr/>
          <a:lstStyle>
            <a:lvl1pPr>
              <a:defRPr sz="700"/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36981E8-8399-468B-A558-5238F4DAB68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7165502" y="6266212"/>
            <a:ext cx="3899052" cy="365125"/>
          </a:xfrm>
        </p:spPr>
        <p:txBody>
          <a:bodyPr/>
          <a:lstStyle>
            <a:lvl1pPr>
              <a:defRPr sz="700"/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E812846-888C-4F74-AB05-548493112F7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4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9E3B94C0-2672-4F61-B3C5-97E280171C73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custGeom>
            <a:avLst/>
            <a:gdLst>
              <a:gd name="connsiteX0" fmla="*/ 337369 w 12192001"/>
              <a:gd name="connsiteY0" fmla="*/ 324780 h 6858000"/>
              <a:gd name="connsiteX1" fmla="*/ 337369 w 12192001"/>
              <a:gd name="connsiteY1" fmla="*/ 332656 h 6858000"/>
              <a:gd name="connsiteX2" fmla="*/ 335361 w 12192001"/>
              <a:gd name="connsiteY2" fmla="*/ 332656 h 6858000"/>
              <a:gd name="connsiteX3" fmla="*/ 335361 w 12192001"/>
              <a:gd name="connsiteY3" fmla="*/ 5941695 h 6858000"/>
              <a:gd name="connsiteX4" fmla="*/ 2708911 w 12192001"/>
              <a:gd name="connsiteY4" fmla="*/ 5941695 h 6858000"/>
              <a:gd name="connsiteX5" fmla="*/ 2708911 w 12192001"/>
              <a:gd name="connsiteY5" fmla="*/ 6525344 h 6858000"/>
              <a:gd name="connsiteX6" fmla="*/ 2711624 w 12192001"/>
              <a:gd name="connsiteY6" fmla="*/ 6525344 h 6858000"/>
              <a:gd name="connsiteX7" fmla="*/ 2711624 w 12192001"/>
              <a:gd name="connsiteY7" fmla="*/ 6533220 h 6858000"/>
              <a:gd name="connsiteX8" fmla="*/ 11867220 w 12192001"/>
              <a:gd name="connsiteY8" fmla="*/ 6533220 h 6858000"/>
              <a:gd name="connsiteX9" fmla="*/ 11867220 w 12192001"/>
              <a:gd name="connsiteY9" fmla="*/ 324780 h 6858000"/>
              <a:gd name="connsiteX10" fmla="*/ 0 w 12192001"/>
              <a:gd name="connsiteY10" fmla="*/ 0 h 6858000"/>
              <a:gd name="connsiteX11" fmla="*/ 1 w 12192001"/>
              <a:gd name="connsiteY11" fmla="*/ 0 h 6858000"/>
              <a:gd name="connsiteX12" fmla="*/ 12589 w 12192001"/>
              <a:gd name="connsiteY12" fmla="*/ 0 h 6858000"/>
              <a:gd name="connsiteX13" fmla="*/ 337369 w 12192001"/>
              <a:gd name="connsiteY13" fmla="*/ 0 h 6858000"/>
              <a:gd name="connsiteX14" fmla="*/ 11867220 w 12192001"/>
              <a:gd name="connsiteY14" fmla="*/ 0 h 6858000"/>
              <a:gd name="connsiteX15" fmla="*/ 12191999 w 12192001"/>
              <a:gd name="connsiteY15" fmla="*/ 0 h 6858000"/>
              <a:gd name="connsiteX16" fmla="*/ 12192000 w 12192001"/>
              <a:gd name="connsiteY16" fmla="*/ 0 h 6858000"/>
              <a:gd name="connsiteX17" fmla="*/ 12192001 w 12192001"/>
              <a:gd name="connsiteY17" fmla="*/ 0 h 6858000"/>
              <a:gd name="connsiteX18" fmla="*/ 12192001 w 12192001"/>
              <a:gd name="connsiteY18" fmla="*/ 324780 h 6858000"/>
              <a:gd name="connsiteX19" fmla="*/ 12192000 w 12192001"/>
              <a:gd name="connsiteY19" fmla="*/ 324780 h 6858000"/>
              <a:gd name="connsiteX20" fmla="*/ 12192000 w 12192001"/>
              <a:gd name="connsiteY20" fmla="*/ 6533220 h 6858000"/>
              <a:gd name="connsiteX21" fmla="*/ 12192001 w 12192001"/>
              <a:gd name="connsiteY21" fmla="*/ 6533220 h 6858000"/>
              <a:gd name="connsiteX22" fmla="*/ 12192001 w 12192001"/>
              <a:gd name="connsiteY22" fmla="*/ 6858000 h 6858000"/>
              <a:gd name="connsiteX23" fmla="*/ 12191999 w 12192001"/>
              <a:gd name="connsiteY23" fmla="*/ 6858000 h 6858000"/>
              <a:gd name="connsiteX24" fmla="*/ 2711624 w 12192001"/>
              <a:gd name="connsiteY24" fmla="*/ 6858000 h 6858000"/>
              <a:gd name="connsiteX25" fmla="*/ 2708911 w 12192001"/>
              <a:gd name="connsiteY25" fmla="*/ 6858000 h 6858000"/>
              <a:gd name="connsiteX26" fmla="*/ 2062163 w 12192001"/>
              <a:gd name="connsiteY26" fmla="*/ 6858000 h 6858000"/>
              <a:gd name="connsiteX27" fmla="*/ 12315 w 12192001"/>
              <a:gd name="connsiteY27" fmla="*/ 6858000 h 6858000"/>
              <a:gd name="connsiteX28" fmla="*/ 1 w 12192001"/>
              <a:gd name="connsiteY28" fmla="*/ 6858000 h 6858000"/>
              <a:gd name="connsiteX29" fmla="*/ 0 w 12192001"/>
              <a:gd name="connsiteY29" fmla="*/ 6858000 h 6858000"/>
              <a:gd name="connsiteX30" fmla="*/ 0 w 12192001"/>
              <a:gd name="connsiteY30" fmla="*/ 60864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1" h="6858000">
                <a:moveTo>
                  <a:pt x="337369" y="324780"/>
                </a:moveTo>
                <a:lnTo>
                  <a:pt x="337369" y="332656"/>
                </a:lnTo>
                <a:lnTo>
                  <a:pt x="335361" y="332656"/>
                </a:lnTo>
                <a:lnTo>
                  <a:pt x="335361" y="5941695"/>
                </a:lnTo>
                <a:lnTo>
                  <a:pt x="2708911" y="5941695"/>
                </a:lnTo>
                <a:lnTo>
                  <a:pt x="2708911" y="6525344"/>
                </a:lnTo>
                <a:lnTo>
                  <a:pt x="2711624" y="6525344"/>
                </a:lnTo>
                <a:lnTo>
                  <a:pt x="2711624" y="6533220"/>
                </a:lnTo>
                <a:lnTo>
                  <a:pt x="11867220" y="6533220"/>
                </a:lnTo>
                <a:lnTo>
                  <a:pt x="11867220" y="32478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589" y="0"/>
                </a:lnTo>
                <a:lnTo>
                  <a:pt x="337369" y="0"/>
                </a:lnTo>
                <a:lnTo>
                  <a:pt x="11867220" y="0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1" y="0"/>
                </a:lnTo>
                <a:lnTo>
                  <a:pt x="12192001" y="324780"/>
                </a:lnTo>
                <a:lnTo>
                  <a:pt x="12192000" y="324780"/>
                </a:lnTo>
                <a:lnTo>
                  <a:pt x="12192000" y="6533220"/>
                </a:lnTo>
                <a:lnTo>
                  <a:pt x="12192001" y="6533220"/>
                </a:lnTo>
                <a:lnTo>
                  <a:pt x="12192001" y="6858000"/>
                </a:lnTo>
                <a:lnTo>
                  <a:pt x="12191999" y="6858000"/>
                </a:lnTo>
                <a:lnTo>
                  <a:pt x="2711624" y="6858000"/>
                </a:lnTo>
                <a:lnTo>
                  <a:pt x="2708911" y="6858000"/>
                </a:lnTo>
                <a:lnTo>
                  <a:pt x="2062163" y="6858000"/>
                </a:lnTo>
                <a:lnTo>
                  <a:pt x="12315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60864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91" name="Forme libre : forme 90">
            <a:extLst>
              <a:ext uri="{FF2B5EF4-FFF2-40B4-BE49-F238E27FC236}">
                <a16:creationId xmlns:a16="http://schemas.microsoft.com/office/drawing/2014/main" id="{6031C171-86E8-4DDC-88E3-ADBB609A89AD}"/>
              </a:ext>
            </a:extLst>
          </p:cNvPr>
          <p:cNvSpPr/>
          <p:nvPr userDrawn="1"/>
        </p:nvSpPr>
        <p:spPr>
          <a:xfrm rot="5400000">
            <a:off x="7010402" y="1412084"/>
            <a:ext cx="1101825" cy="1101825"/>
          </a:xfrm>
          <a:custGeom>
            <a:avLst/>
            <a:gdLst>
              <a:gd name="connsiteX0" fmla="*/ 0 w 1101825"/>
              <a:gd name="connsiteY0" fmla="*/ 1101825 h 1101825"/>
              <a:gd name="connsiteX1" fmla="*/ 0 w 1101825"/>
              <a:gd name="connsiteY1" fmla="*/ 0 h 1101825"/>
              <a:gd name="connsiteX2" fmla="*/ 345436 w 1101825"/>
              <a:gd name="connsiteY2" fmla="*/ 0 h 1101825"/>
              <a:gd name="connsiteX3" fmla="*/ 345436 w 1101825"/>
              <a:gd name="connsiteY3" fmla="*/ 1 h 1101825"/>
              <a:gd name="connsiteX4" fmla="*/ 1101825 w 1101825"/>
              <a:gd name="connsiteY4" fmla="*/ 1 h 1101825"/>
              <a:gd name="connsiteX5" fmla="*/ 1101825 w 1101825"/>
              <a:gd name="connsiteY5" fmla="*/ 345436 h 1101825"/>
              <a:gd name="connsiteX6" fmla="*/ 345436 w 1101825"/>
              <a:gd name="connsiteY6" fmla="*/ 345436 h 1101825"/>
              <a:gd name="connsiteX7" fmla="*/ 345436 w 1101825"/>
              <a:gd name="connsiteY7" fmla="*/ 1101825 h 110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1825" h="1101825">
                <a:moveTo>
                  <a:pt x="0" y="1101825"/>
                </a:moveTo>
                <a:lnTo>
                  <a:pt x="0" y="0"/>
                </a:lnTo>
                <a:lnTo>
                  <a:pt x="345436" y="0"/>
                </a:lnTo>
                <a:lnTo>
                  <a:pt x="345436" y="1"/>
                </a:lnTo>
                <a:lnTo>
                  <a:pt x="1101825" y="1"/>
                </a:lnTo>
                <a:lnTo>
                  <a:pt x="1101825" y="345436"/>
                </a:lnTo>
                <a:lnTo>
                  <a:pt x="345436" y="345436"/>
                </a:lnTo>
                <a:lnTo>
                  <a:pt x="345436" y="11018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3B710E8-959D-4375-9525-F35950162090}"/>
              </a:ext>
            </a:extLst>
          </p:cNvPr>
          <p:cNvSpPr/>
          <p:nvPr userDrawn="1"/>
        </p:nvSpPr>
        <p:spPr>
          <a:xfrm>
            <a:off x="4424669" y="1757516"/>
            <a:ext cx="3342968" cy="3342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94" name="Forme libre : forme 93">
            <a:extLst>
              <a:ext uri="{FF2B5EF4-FFF2-40B4-BE49-F238E27FC236}">
                <a16:creationId xmlns:a16="http://schemas.microsoft.com/office/drawing/2014/main" id="{F3880C60-ED34-4AC4-9AF0-0A324A26765D}"/>
              </a:ext>
            </a:extLst>
          </p:cNvPr>
          <p:cNvSpPr/>
          <p:nvPr userDrawn="1"/>
        </p:nvSpPr>
        <p:spPr>
          <a:xfrm>
            <a:off x="4313509" y="3874297"/>
            <a:ext cx="1339203" cy="1339204"/>
          </a:xfrm>
          <a:custGeom>
            <a:avLst/>
            <a:gdLst>
              <a:gd name="connsiteX0" fmla="*/ 1 w 1339203"/>
              <a:gd name="connsiteY0" fmla="*/ 0 h 1339204"/>
              <a:gd name="connsiteX1" fmla="*/ 111005 w 1339203"/>
              <a:gd name="connsiteY1" fmla="*/ 0 h 1339204"/>
              <a:gd name="connsiteX2" fmla="*/ 111005 w 1339203"/>
              <a:gd name="connsiteY2" fmla="*/ 1228200 h 1339204"/>
              <a:gd name="connsiteX3" fmla="*/ 1339203 w 1339203"/>
              <a:gd name="connsiteY3" fmla="*/ 1228200 h 1339204"/>
              <a:gd name="connsiteX4" fmla="*/ 1339203 w 1339203"/>
              <a:gd name="connsiteY4" fmla="*/ 1339204 h 1339204"/>
              <a:gd name="connsiteX5" fmla="*/ 0 w 1339203"/>
              <a:gd name="connsiteY5" fmla="*/ 1339204 h 1339204"/>
              <a:gd name="connsiteX6" fmla="*/ 0 w 1339203"/>
              <a:gd name="connsiteY6" fmla="*/ 1228200 h 1339204"/>
              <a:gd name="connsiteX7" fmla="*/ 1 w 1339203"/>
              <a:gd name="connsiteY7" fmla="*/ 1228200 h 133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9203" h="1339204">
                <a:moveTo>
                  <a:pt x="1" y="0"/>
                </a:moveTo>
                <a:lnTo>
                  <a:pt x="111005" y="0"/>
                </a:lnTo>
                <a:lnTo>
                  <a:pt x="111005" y="1228200"/>
                </a:lnTo>
                <a:lnTo>
                  <a:pt x="1339203" y="1228200"/>
                </a:lnTo>
                <a:lnTo>
                  <a:pt x="1339203" y="1339204"/>
                </a:lnTo>
                <a:lnTo>
                  <a:pt x="0" y="1339204"/>
                </a:lnTo>
                <a:lnTo>
                  <a:pt x="0" y="1228200"/>
                </a:lnTo>
                <a:lnTo>
                  <a:pt x="1" y="1228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9D896F-255B-4B23-B1AD-3C0DF9731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6" y="3026655"/>
            <a:ext cx="3342968" cy="903236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6" name="Espace réservé du texte 95">
            <a:extLst>
              <a:ext uri="{FF2B5EF4-FFF2-40B4-BE49-F238E27FC236}">
                <a16:creationId xmlns:a16="http://schemas.microsoft.com/office/drawing/2014/main" id="{599541E7-1D49-482B-AA22-74C15E4B7A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517" y="4281934"/>
            <a:ext cx="3343275" cy="792163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accent1"/>
                </a:solidFill>
              </a:defRPr>
            </a:lvl1pPr>
            <a:lvl2pPr marL="280980" indent="0" algn="l">
              <a:buNone/>
              <a:defRPr/>
            </a:lvl2pPr>
            <a:lvl3pPr marL="552437" indent="0" algn="l">
              <a:buNone/>
              <a:defRPr/>
            </a:lvl3pPr>
            <a:lvl4pPr marL="927077" indent="0" algn="l">
              <a:buNone/>
              <a:defRPr/>
            </a:lvl4pPr>
            <a:lvl5pPr marL="1289018" indent="0" algn="l"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F23288A0-5393-4445-A712-A1D31483C379}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6096153" y="3768963"/>
            <a:ext cx="0" cy="6043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space réservé du texte 99">
            <a:extLst>
              <a:ext uri="{FF2B5EF4-FFF2-40B4-BE49-F238E27FC236}">
                <a16:creationId xmlns:a16="http://schemas.microsoft.com/office/drawing/2014/main" id="{352C8794-FA86-4A5D-B1B4-613979F0F1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7153" y="2080513"/>
            <a:ext cx="1778000" cy="1103312"/>
          </a:xfrm>
        </p:spPr>
        <p:txBody>
          <a:bodyPr anchor="ctr">
            <a:noAutofit/>
          </a:bodyPr>
          <a:lstStyle>
            <a:lvl1pPr marL="0" indent="0" algn="ctr">
              <a:buNone/>
              <a:defRPr sz="66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00</a:t>
            </a:r>
          </a:p>
        </p:txBody>
      </p:sp>
      <p:pic>
        <p:nvPicPr>
          <p:cNvPr id="17" name="Graphique 22">
            <a:extLst>
              <a:ext uri="{FF2B5EF4-FFF2-40B4-BE49-F238E27FC236}">
                <a16:creationId xmlns:a16="http://schemas.microsoft.com/office/drawing/2014/main" id="{E44C4F2C-DFAD-4610-A7E4-E7B6136C99B7}"/>
              </a:ext>
            </a:extLst>
          </p:cNvPr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1" y="5788660"/>
            <a:ext cx="2282563" cy="1315546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196E1C21-AACF-40FB-9CAD-0E32B8FFE4D5}"/>
              </a:ext>
            </a:extLst>
          </p:cNvPr>
          <p:cNvGrpSpPr/>
          <p:nvPr userDrawn="1"/>
        </p:nvGrpSpPr>
        <p:grpSpPr>
          <a:xfrm>
            <a:off x="12103893" y="332656"/>
            <a:ext cx="88107" cy="1402510"/>
            <a:chOff x="12103894" y="219915"/>
            <a:chExt cx="88106" cy="147301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0F2420-4617-4F7D-A610-7591BBCF4C36}"/>
                </a:ext>
              </a:extLst>
            </p:cNvPr>
            <p:cNvSpPr/>
            <p:nvPr userDrawn="1"/>
          </p:nvSpPr>
          <p:spPr>
            <a:xfrm>
              <a:off x="12103894" y="219915"/>
              <a:ext cx="88106" cy="368254"/>
            </a:xfrm>
            <a:prstGeom prst="rect">
              <a:avLst/>
            </a:prstGeom>
            <a:solidFill>
              <a:srgbClr val="27A4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556BDA-FCC4-4F33-9C81-2B9D8312D001}"/>
                </a:ext>
              </a:extLst>
            </p:cNvPr>
            <p:cNvSpPr/>
            <p:nvPr userDrawn="1"/>
          </p:nvSpPr>
          <p:spPr>
            <a:xfrm>
              <a:off x="12103894" y="588169"/>
              <a:ext cx="88106" cy="368254"/>
            </a:xfrm>
            <a:prstGeom prst="rect">
              <a:avLst/>
            </a:prstGeom>
            <a:solidFill>
              <a:srgbClr val="4469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3B1F619-4499-4555-8DDB-F4F5BC5F05CF}"/>
                </a:ext>
              </a:extLst>
            </p:cNvPr>
            <p:cNvSpPr/>
            <p:nvPr userDrawn="1"/>
          </p:nvSpPr>
          <p:spPr>
            <a:xfrm>
              <a:off x="12103894" y="956423"/>
              <a:ext cx="88106" cy="368254"/>
            </a:xfrm>
            <a:prstGeom prst="rect">
              <a:avLst/>
            </a:prstGeom>
            <a:solidFill>
              <a:srgbClr val="F5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CA95C1-A51E-4279-9A7A-0D46E998EAD4}"/>
                </a:ext>
              </a:extLst>
            </p:cNvPr>
            <p:cNvSpPr/>
            <p:nvPr userDrawn="1"/>
          </p:nvSpPr>
          <p:spPr>
            <a:xfrm>
              <a:off x="12103894" y="1324677"/>
              <a:ext cx="88106" cy="368254"/>
            </a:xfrm>
            <a:prstGeom prst="rect">
              <a:avLst/>
            </a:prstGeom>
            <a:solidFill>
              <a:srgbClr val="A7CD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pic>
        <p:nvPicPr>
          <p:cNvPr id="24" name="Image 2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5683" y="6355460"/>
            <a:ext cx="563935" cy="18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7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6BA1C7-9525-4F18-8324-7097F1BD8E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Janvier 2025</a:t>
            </a: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EECD706-166F-4806-8D27-CCFFA3B130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SAM 1 – Développement Durable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D86761-9465-407C-8C01-75FD7574C8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2C282E-6EDF-4FA8-80F0-AB70275BED5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07870455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1 c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B83D37-8D82-40C7-B32E-DD6A0DAB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4" y="1628803"/>
            <a:ext cx="11522077" cy="44640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EFD684-202D-4D8F-8AFC-EAA02D8E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35EC-159A-4C7E-A680-7883DF5088C2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F5E52BF2-A491-4678-876E-9E9820A9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07541FBC-E40D-486A-968C-E8BA3CF01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55437" y="6266212"/>
            <a:ext cx="1333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9585FCAB-B0DF-4DBB-99B8-DF29B3B10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4999" y="6266212"/>
            <a:ext cx="40577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cap="all" spc="30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</p:spTree>
    <p:extLst>
      <p:ext uri="{BB962C8B-B14F-4D97-AF65-F5344CB8AC3E}">
        <p14:creationId xmlns:p14="http://schemas.microsoft.com/office/powerpoint/2010/main" val="2678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BD01E0D5-DD37-46F6-8E5A-E6B70024D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400" y="267971"/>
            <a:ext cx="838200" cy="24257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Janvier 2025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BBEA030-A958-4C65-BF9D-794D48210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0621" y="267971"/>
            <a:ext cx="5006337" cy="24257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SAM 1 – Développement Durable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9889A3C4-1352-4302-869F-F58805AAC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0115" y="6468743"/>
            <a:ext cx="746760" cy="24257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99EF5AE-56D7-4A2B-B0E3-BCC40C43C5F5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D26558-898A-4181-A9A2-1F5CB2A3953A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3950" y="5935419"/>
            <a:ext cx="1244081" cy="5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9" r:id="rId2"/>
    <p:sldLayoutId id="2147483681" r:id="rId3"/>
    <p:sldLayoutId id="2147483650" r:id="rId4"/>
    <p:sldLayoutId id="2147483685" r:id="rId5"/>
    <p:sldLayoutId id="2147483686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703" r:id="rId12"/>
    <p:sldLayoutId id="2147483704" r:id="rId13"/>
    <p:sldLayoutId id="2147483705" r:id="rId14"/>
    <p:sldLayoutId id="2147483706" r:id="rId15"/>
    <p:sldLayoutId id="2147483683" r:id="rId16"/>
    <p:sldLayoutId id="2147483687" r:id="rId17"/>
    <p:sldLayoutId id="2147483690" r:id="rId18"/>
    <p:sldLayoutId id="2147483660" r:id="rId19"/>
    <p:sldLayoutId id="2147483689" r:id="rId20"/>
    <p:sldLayoutId id="2147483656" r:id="rId21"/>
    <p:sldLayoutId id="2147483692" r:id="rId22"/>
    <p:sldLayoutId id="2147483657" r:id="rId23"/>
    <p:sldLayoutId id="2147483693" r:id="rId24"/>
    <p:sldLayoutId id="2147483658" r:id="rId25"/>
    <p:sldLayoutId id="2147483694" r:id="rId26"/>
    <p:sldLayoutId id="2147483659" r:id="rId27"/>
    <p:sldLayoutId id="2147483695" r:id="rId28"/>
    <p:sldLayoutId id="2147483688" r:id="rId29"/>
    <p:sldLayoutId id="2147483691" r:id="rId30"/>
    <p:sldLayoutId id="2147483663" r:id="rId31"/>
    <p:sldLayoutId id="2147483664" r:id="rId32"/>
    <p:sldLayoutId id="2147483701" r:id="rId33"/>
    <p:sldLayoutId id="2147483702" r:id="rId34"/>
    <p:sldLayoutId id="2147483707" r:id="rId35"/>
    <p:sldLayoutId id="2147483708" r:id="rId36"/>
    <p:sldLayoutId id="2147483665" r:id="rId37"/>
    <p:sldLayoutId id="2147483667" r:id="rId38"/>
    <p:sldLayoutId id="2147483666" r:id="rId39"/>
    <p:sldLayoutId id="2147483674" r:id="rId40"/>
    <p:sldLayoutId id="2147483675" r:id="rId41"/>
    <p:sldLayoutId id="2147483676" r:id="rId42"/>
    <p:sldLayoutId id="2147483682" r:id="rId43"/>
    <p:sldLayoutId id="2147483668" r:id="rId44"/>
    <p:sldLayoutId id="2147483670" r:id="rId45"/>
    <p:sldLayoutId id="2147483669" r:id="rId46"/>
    <p:sldLayoutId id="2147483671" r:id="rId47"/>
    <p:sldLayoutId id="2147483672" r:id="rId48"/>
    <p:sldLayoutId id="2147483696" r:id="rId49"/>
    <p:sldLayoutId id="2147483697" r:id="rId50"/>
    <p:sldLayoutId id="2147483673" r:id="rId51"/>
    <p:sldLayoutId id="2147483698" r:id="rId52"/>
    <p:sldLayoutId id="2147483699" r:id="rId53"/>
    <p:sldLayoutId id="2147483678" r:id="rId54"/>
    <p:sldLayoutId id="2147483700" r:id="rId55"/>
    <p:sldLayoutId id="2147483684" r:id="rId56"/>
    <p:sldLayoutId id="2147483711" r:id="rId57"/>
    <p:sldLayoutId id="2147483712" r:id="rId58"/>
    <p:sldLayoutId id="2147483713" r:id="rId59"/>
    <p:sldLayoutId id="2147483714" r:id="rId60"/>
    <p:sldLayoutId id="2147483715" r:id="rId6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C13361-A9E7-40FF-A0EE-D6505B538E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90515"/>
            <a:ext cx="5852160" cy="6232840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4F11E9A6-0388-4BE2-B387-0A292AD8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45" y="457201"/>
            <a:ext cx="5040932" cy="3162300"/>
          </a:xfrm>
        </p:spPr>
        <p:txBody>
          <a:bodyPr>
            <a:normAutofit/>
          </a:bodyPr>
          <a:lstStyle/>
          <a:p>
            <a:r>
              <a:rPr lang="fr-FR" sz="2400"/>
              <a:t>Réseau de neurones et métaheuristiques pour une prédiction fiable de la production d'énergie photovoltaïque de bâtiments à énergie positive.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C8ED392-B51C-4FFC-9A32-8A4F90DF91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4345" y="3667843"/>
            <a:ext cx="5610261" cy="3022198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fr-FR" b="1" u="sng"/>
              <a:t>Enseignants chercheurs : </a:t>
            </a:r>
          </a:p>
          <a:p>
            <a:r>
              <a:rPr lang="fr-FR" sz="1600" b="1"/>
              <a:t>Youssef JOUANE</a:t>
            </a:r>
          </a:p>
          <a:p>
            <a:r>
              <a:rPr lang="fr-FR" sz="1600" b="1"/>
              <a:t>Simon CAILLARD</a:t>
            </a:r>
          </a:p>
          <a:p>
            <a:r>
              <a:rPr lang="fr-FR" b="1" u="sng">
                <a:cs typeface="Arial"/>
              </a:rPr>
              <a:t>Etudiants chercheurs : </a:t>
            </a:r>
          </a:p>
          <a:p>
            <a:r>
              <a:rPr lang="fr-FR" sz="1600" b="1">
                <a:cs typeface="Arial"/>
              </a:rPr>
              <a:t>Sylvain PERROUAS</a:t>
            </a:r>
          </a:p>
          <a:p>
            <a:r>
              <a:rPr lang="fr-FR" sz="1600" b="1">
                <a:cs typeface="Arial"/>
              </a:rPr>
              <a:t>Saman ISMAIL</a:t>
            </a:r>
          </a:p>
          <a:p>
            <a:r>
              <a:rPr lang="fr-FR" sz="1600" b="1">
                <a:cs typeface="Arial"/>
              </a:rPr>
              <a:t>Jad MACHKOUR</a:t>
            </a:r>
          </a:p>
          <a:p>
            <a:r>
              <a:rPr lang="fr-FR" sz="1600" b="1">
                <a:cs typeface="Arial"/>
              </a:rPr>
              <a:t>Nathan CORREGER</a:t>
            </a:r>
          </a:p>
        </p:txBody>
      </p:sp>
    </p:spTree>
    <p:extLst>
      <p:ext uri="{BB962C8B-B14F-4D97-AF65-F5344CB8AC3E}">
        <p14:creationId xmlns:p14="http://schemas.microsoft.com/office/powerpoint/2010/main" val="56416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641E-C7E5-C28F-A03B-0230BDC0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8DED95-752E-8BBD-49CF-A48F06A9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67DAF6A-87F2-BC73-04DA-46D474AC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A22B2FC-7A20-5234-5880-7EAEEE40C1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" y="1277460"/>
            <a:ext cx="11254740" cy="1598771"/>
          </a:xfrm>
        </p:spPr>
        <p:txBody>
          <a:bodyPr lIns="91440" tIns="45720" rIns="91440" bIns="45720" anchor="t"/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800" err="1"/>
              <a:t>Optimisation</a:t>
            </a:r>
            <a:r>
              <a:rPr lang="en-US" sz="2800"/>
              <a:t> du dataset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800" err="1"/>
              <a:t>Entrainement</a:t>
            </a:r>
            <a:r>
              <a:rPr lang="en-US" sz="2800"/>
              <a:t> des IA et </a:t>
            </a:r>
            <a:r>
              <a:rPr lang="en-US" sz="2800" err="1"/>
              <a:t>optimisation</a:t>
            </a:r>
            <a:r>
              <a:rPr lang="en-US" sz="2800"/>
              <a:t> des </a:t>
            </a:r>
            <a:r>
              <a:rPr lang="en-US" sz="2800" err="1"/>
              <a:t>hyperparamètres</a:t>
            </a:r>
            <a:endParaRPr lang="en-US" sz="280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800" err="1"/>
              <a:t>Résultats</a:t>
            </a:r>
            <a:r>
              <a:rPr lang="en-US" sz="2800"/>
              <a:t> au 30/06</a:t>
            </a:r>
            <a:endParaRPr lang="en-US" sz="2800">
              <a:cs typeface="Arial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800" err="1"/>
              <a:t>Hyperparamètres</a:t>
            </a:r>
            <a:r>
              <a:rPr lang="en-US" sz="2800"/>
              <a:t> </a:t>
            </a:r>
            <a:r>
              <a:rPr lang="en-US" sz="2800" err="1"/>
              <a:t>figés</a:t>
            </a:r>
            <a:endParaRPr lang="en-US" sz="2800"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endParaRPr lang="fr-FR" sz="2800"/>
          </a:p>
          <a:p>
            <a:pPr marL="342900" indent="-342900">
              <a:buFont typeface="+mj-lt"/>
              <a:buAutoNum type="arabicPeriod"/>
            </a:pPr>
            <a:endParaRPr lang="fr-FR" sz="2800"/>
          </a:p>
          <a:p>
            <a:pPr marL="285750" indent="-285750">
              <a:buFontTx/>
              <a:buChar char="-"/>
            </a:pPr>
            <a:endParaRPr lang="fr-FR" sz="2800"/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0BF9A47C-47E7-1792-0EDD-6B715084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70077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7D8C-21FA-634B-78D8-09B9612B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35720D-8396-FDA9-E5EA-40E1653D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9EF5AE-56D7-4A2B-B0E3-BCC40C43C5F5}" type="slidenum">
              <a:rPr lang="fr-FR" smtClean="0"/>
              <a:pPr>
                <a:spcAft>
                  <a:spcPts val="600"/>
                </a:spcAft>
              </a:pPr>
              <a:t>3</a:t>
            </a:fld>
            <a:endParaRPr lang="fr-FR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4A3CBFEF-B2D0-3583-C29E-365CA58C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155" y="1744982"/>
            <a:ext cx="5863591" cy="2073275"/>
          </a:xfrm>
        </p:spPr>
        <p:txBody>
          <a:bodyPr/>
          <a:lstStyle/>
          <a:p>
            <a:r>
              <a:rPr lang="en-US" err="1"/>
              <a:t>Optimisation</a:t>
            </a:r>
            <a:r>
              <a:rPr lang="en-US"/>
              <a:t> du DATASET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B270012-4AA2-32B9-81AD-5B7A77CFAC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155" y="3992880"/>
            <a:ext cx="5863591" cy="1341120"/>
          </a:xfrm>
        </p:spPr>
        <p:txBody>
          <a:bodyPr/>
          <a:lstStyle/>
          <a:p>
            <a:r>
              <a:rPr lang="en-US" err="1"/>
              <a:t>Optimisation</a:t>
            </a:r>
            <a:r>
              <a:rPr lang="en-US"/>
              <a:t> par </a:t>
            </a:r>
            <a:r>
              <a:rPr lang="en-US" err="1"/>
              <a:t>réduction</a:t>
            </a:r>
            <a:r>
              <a:rPr lang="en-US"/>
              <a:t> des données.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194A8DF-9CED-19DF-1BB3-1C330C3C66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1604" y="1744981"/>
            <a:ext cx="1663065" cy="2073275"/>
          </a:xfr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DC59AA19-5494-3DE7-D7D0-B65BD7AF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65542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D36F749-CBB0-ECBC-A78C-A382B40F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79F9E4-BA93-1574-E0FE-68445476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/>
          <a:lstStyle/>
          <a:p>
            <a:fld id="{F99EF5AE-56D7-4A2B-B0E3-BCC40C43C5F5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3A39373-EC36-8E34-ECAD-436A9B32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35" y="1004253"/>
            <a:ext cx="11110279" cy="733109"/>
          </a:xfrm>
        </p:spPr>
        <p:txBody>
          <a:bodyPr/>
          <a:lstStyle/>
          <a:p>
            <a:r>
              <a:rPr lang="fr-FR"/>
              <a:t>Optimisation du </a:t>
            </a:r>
            <a:r>
              <a:rPr lang="fr-FR" err="1"/>
              <a:t>dataset</a:t>
            </a:r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CD4840E-1C5E-E11F-347C-4F13123B43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6735" y="2058829"/>
            <a:ext cx="11110279" cy="4033996"/>
          </a:xfrm>
        </p:spPr>
        <p:txBody>
          <a:bodyPr/>
          <a:lstStyle/>
          <a:p>
            <a:r>
              <a:rPr lang="fr-FR"/>
              <a:t>L’IA a besoin de données fiables pour être entrainée:</a:t>
            </a:r>
          </a:p>
          <a:p>
            <a:r>
              <a:rPr lang="fr-FR"/>
              <a:t>Trop de données inutile -&gt; Temps d’entrainement long</a:t>
            </a:r>
          </a:p>
          <a:p>
            <a:r>
              <a:rPr lang="fr-FR"/>
              <a:t>Pas assez de données -&gt; Modèle pas précis</a:t>
            </a:r>
          </a:p>
          <a:p>
            <a:endParaRPr lang="fr-FR"/>
          </a:p>
          <a:p>
            <a:r>
              <a:rPr lang="fr-FR"/>
              <a:t>On part du fichier Full_Dataset.csv -&gt; Contient 165 colonnes (~13Mo)</a:t>
            </a:r>
          </a:p>
          <a:p>
            <a:r>
              <a:rPr lang="fr-FR"/>
              <a:t>Pour cette partie on présentera les tests de réduction de données</a:t>
            </a:r>
          </a:p>
          <a:p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66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39C8A-B61A-0865-3BCA-EE74A232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60198C9-644B-B6D2-86C2-B213086E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267971"/>
            <a:ext cx="83820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700"/>
              <a:t>Juillet 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CCEF34-2917-43AF-BFDE-FE347420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9EF5AE-56D7-4A2B-B0E3-BCC40C43C5F5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33C9835-ACFD-D939-1332-B4AF4A6F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954" y="1412002"/>
            <a:ext cx="9800587" cy="4287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327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48EA25-1A13-6AB5-EB14-F33BBC0F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41E998C-1D79-B781-784A-6C46E457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CSV par bâtiment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0130CE2-1466-357F-E1FE-67CAF17EDCA4}"/>
              </a:ext>
            </a:extLst>
          </p:cNvPr>
          <p:cNvSpPr txBox="1"/>
          <p:nvPr/>
        </p:nvSpPr>
        <p:spPr>
          <a:xfrm>
            <a:off x="707345" y="5120639"/>
            <a:ext cx="10777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L’apprentissage par bâtiment ne donne pas des bons résultats.</a:t>
            </a:r>
            <a:br>
              <a:rPr lang="fr-FR"/>
            </a:br>
            <a:r>
              <a:rPr lang="fr-FR"/>
              <a:t>Le R² est bien inférieur en utilisant des CSV par bâtiment que en utilisant l’entièreté du Full_Dataset.csv</a:t>
            </a:r>
          </a:p>
        </p:txBody>
      </p:sp>
      <p:pic>
        <p:nvPicPr>
          <p:cNvPr id="7" name="Image 6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3DD8C0A4-E82A-735E-4F22-F47F148B4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15" y="1801096"/>
            <a:ext cx="5426348" cy="325580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02099BF-2CE7-F2A1-B403-BF71A72D6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56" y="2274084"/>
            <a:ext cx="6104559" cy="2309833"/>
          </a:xfrm>
          <a:prstGeom prst="rect">
            <a:avLst/>
          </a:prstGeom>
        </p:spPr>
      </p:pic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FA8014F6-59A4-55D2-A03F-F98E6A54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77478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5DCB62-9018-49B9-E829-0E52550C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AFEF339-F370-3596-55CA-9D20EA36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1 ligne sur 2</a:t>
            </a:r>
            <a:br>
              <a:rPr lang="fr-FR"/>
            </a:br>
            <a:r>
              <a:rPr lang="fr-FR"/>
              <a:t>Semaine représentative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76B0015-6BDF-46EB-C6CB-E1F6A29F71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6735" y="3223259"/>
            <a:ext cx="11110279" cy="2869565"/>
          </a:xfrm>
        </p:spPr>
        <p:txBody>
          <a:bodyPr/>
          <a:lstStyle/>
          <a:p>
            <a:r>
              <a:rPr lang="fr-FR" sz="1800"/>
              <a:t>Ces résultats sont fruit du modèle d’IA </a:t>
            </a:r>
            <a:r>
              <a:rPr lang="fr-FR" sz="1800" err="1"/>
              <a:t>ConvLSTM</a:t>
            </a:r>
            <a:r>
              <a:rPr lang="fr-FR" sz="1800"/>
              <a:t> avec une optimisation des hyperparamètres OPTUNA sur 20 essais et 500 </a:t>
            </a:r>
            <a:r>
              <a:rPr lang="fr-FR" sz="1800" err="1"/>
              <a:t>epochs</a:t>
            </a:r>
            <a:r>
              <a:rPr lang="fr-FR" sz="1800"/>
              <a:t>.</a:t>
            </a:r>
            <a:br>
              <a:rPr lang="fr-FR" sz="1800"/>
            </a:br>
            <a:r>
              <a:rPr lang="fr-FR" sz="1800"/>
              <a:t>Le 1</a:t>
            </a:r>
            <a:r>
              <a:rPr lang="fr-FR" sz="1800" baseline="30000"/>
              <a:t>er</a:t>
            </a:r>
            <a:r>
              <a:rPr lang="fr-FR" sz="1800"/>
              <a:t> test garde une ligne sur 2 du full_dataset.csv -&gt; Le R² est plutôt bas</a:t>
            </a:r>
          </a:p>
          <a:p>
            <a:r>
              <a:rPr lang="fr-FR" sz="1800"/>
              <a:t>Le 2</a:t>
            </a:r>
            <a:r>
              <a:rPr lang="fr-FR" sz="1800" baseline="30000"/>
              <a:t>ème</a:t>
            </a:r>
            <a:r>
              <a:rPr lang="fr-FR" sz="1800"/>
              <a:t> test concatène les résultats d’un mois dans une semaine type -&gt; Le R² est très bas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D743CCB-20A5-A9F3-D740-15CFEA332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15" y="1943100"/>
            <a:ext cx="10381170" cy="952500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33C06DA4-475A-DEEB-2F9F-1B20B618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2775091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640C8-FD5E-56D1-9AD7-E98FF293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50BDCC-D0AB-2232-7400-618F6A6E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9EF5AE-56D7-4A2B-B0E3-BCC40C43C5F5}" type="slidenum">
              <a:rPr lang="fr-FR" smtClean="0"/>
              <a:pPr>
                <a:spcAft>
                  <a:spcPts val="600"/>
                </a:spcAft>
              </a:pPr>
              <a:t>8</a:t>
            </a:fld>
            <a:endParaRPr lang="fr-FR"/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2258F992-19CB-04FB-649C-08CA77AC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52" y="1004253"/>
            <a:ext cx="2939581" cy="1388430"/>
          </a:xfrm>
        </p:spPr>
        <p:txBody>
          <a:bodyPr/>
          <a:lstStyle/>
          <a:p>
            <a:pPr algn="l"/>
            <a:r>
              <a:rPr lang="en-US" err="1"/>
              <a:t>Graphe</a:t>
            </a:r>
            <a:r>
              <a:rPr lang="en-US"/>
              <a:t> des </a:t>
            </a:r>
            <a:r>
              <a:rPr lang="en-US" err="1"/>
              <a:t>corrélation</a:t>
            </a:r>
            <a:r>
              <a:rPr lang="en-US"/>
              <a:t> avec production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DC77D05-56C7-F216-8BF3-C0F02F8EB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987" y="2392682"/>
            <a:ext cx="2895548" cy="3700143"/>
          </a:xfrm>
        </p:spPr>
        <p:txBody>
          <a:bodyPr lIns="91440" tIns="45720" rIns="91440" bIns="45720" anchor="t">
            <a:normAutofit lnSpcReduction="10000"/>
          </a:bodyPr>
          <a:lstStyle/>
          <a:p>
            <a:pPr algn="l"/>
            <a:r>
              <a:rPr lang="fr-FR"/>
              <a:t>Un programme nous a permis de récupérer les colonnes les plus corrélés avec la colonne production. </a:t>
            </a:r>
          </a:p>
          <a:p>
            <a:pPr algn="l"/>
            <a:endParaRPr lang="fr-FR"/>
          </a:p>
          <a:p>
            <a:pPr algn="l"/>
            <a:endParaRPr lang="fr-FR"/>
          </a:p>
          <a:p>
            <a:pPr algn="l"/>
            <a:r>
              <a:rPr lang="fr-FR"/>
              <a:t>Voici la visualisation de la corrélation entre la production et les autres variables du jeu de données.</a:t>
            </a:r>
          </a:p>
          <a:p>
            <a:pPr algn="l"/>
            <a:endParaRPr lang="fr-FR"/>
          </a:p>
          <a:p>
            <a:pPr algn="l"/>
            <a:r>
              <a:rPr lang="fr-FR"/>
              <a:t>Dans le but de prédire la production, cette analyse permet d’identifier les colonnes les plus pertinentes à fournir à l’IA, en se basant sur leur niveau de corrélation.</a:t>
            </a:r>
            <a:endParaRPr lang="en-US"/>
          </a:p>
        </p:txBody>
      </p:sp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B7804220-DA81-3012-A5D3-CE6487E112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10332"/>
              </p:ext>
            </p:extLst>
          </p:nvPr>
        </p:nvGraphicFramePr>
        <p:xfrm>
          <a:off x="3635375" y="1004250"/>
          <a:ext cx="8021639" cy="5088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84C5617C-FD71-920C-6351-F6127DDE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32542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E7C512-4C10-1EDD-793F-979AA1ED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07F80B6-58B4-082A-D05E-E2B627AD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Fichier csv filtré par matrice de corrélation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28D1FF-A2CD-2F1A-88DB-8C75A8E9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9811" y="765175"/>
            <a:ext cx="725219" cy="555095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A0CE0E5-5CB8-74F8-085C-CA877AE02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841" y="1370807"/>
            <a:ext cx="3499909" cy="3449999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F77D5C6-5681-C5DC-C307-9BCC73F931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6735" y="2436353"/>
            <a:ext cx="6251998" cy="3600379"/>
          </a:xfrm>
        </p:spPr>
        <p:txBody>
          <a:bodyPr/>
          <a:lstStyle/>
          <a:p>
            <a:r>
              <a:rPr lang="fr-FR" sz="1600"/>
              <a:t>Voici les résultats d’un test sur 20 essais 500epochs sur le nombre de colonne les plus corrélés à utiliser:</a:t>
            </a:r>
          </a:p>
          <a:p>
            <a:pPr marL="285750" indent="-285750">
              <a:buFontTx/>
              <a:buChar char="-"/>
            </a:pPr>
            <a:r>
              <a:rPr lang="fr-FR" sz="1600"/>
              <a:t>40 colonnes: 25min 12sec -&gt; R² = 0,613</a:t>
            </a:r>
          </a:p>
          <a:p>
            <a:pPr marL="285750" indent="-285750">
              <a:buFontTx/>
              <a:buChar char="-"/>
            </a:pPr>
            <a:r>
              <a:rPr lang="fr-FR" sz="1600"/>
              <a:t>30 colonnes: 14min 26sec -&gt; R² = 0,701</a:t>
            </a:r>
          </a:p>
          <a:p>
            <a:pPr marL="285750" indent="-285750">
              <a:buFontTx/>
              <a:buChar char="-"/>
            </a:pPr>
            <a:r>
              <a:rPr lang="fr-FR" sz="1600"/>
              <a:t>20 colonnes: 11min 48sec -&gt; R² = 0,654</a:t>
            </a:r>
          </a:p>
          <a:p>
            <a:pPr marL="285750" indent="-285750">
              <a:buFontTx/>
              <a:buChar char="-"/>
            </a:pPr>
            <a:r>
              <a:rPr lang="fr-FR" sz="1600"/>
              <a:t>15 colonnes: 14min 10sec -&gt; R² = 0,553</a:t>
            </a:r>
          </a:p>
          <a:p>
            <a:r>
              <a:rPr lang="fr-FR" sz="1600"/>
              <a:t>30 colonnes offrent la meilleure précision avec un R² de 0,701 en réduisant considérablement le temps d’entrainement ~15 minutes.</a:t>
            </a:r>
          </a:p>
          <a:p>
            <a:endParaRPr lang="fr-FR" sz="1600"/>
          </a:p>
          <a:p>
            <a:endParaRPr lang="fr-FR" sz="160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40D7C31-3277-EDB3-8890-26C31ADD6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840" y="4820806"/>
            <a:ext cx="3499909" cy="1459855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FB3359E0-3819-61A1-C012-33799FBF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581519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8588-2980-6054-59AA-596AFFC8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E6818B-C1EE-ABED-D65C-0EE7C893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EE036ED4-C732-959E-6011-B7003306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B14B470-EE37-E34A-E6CB-3C04CD2B8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73" y="927346"/>
            <a:ext cx="9437938" cy="523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6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0E00-90DA-5351-0421-903EF9B6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C8C74F-8105-7373-8B48-CAD668B2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9EF5AE-56D7-4A2B-B0E3-BCC40C43C5F5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402EBFFF-1479-8C7B-A87B-B48B9362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155" y="1744982"/>
            <a:ext cx="5863591" cy="2073275"/>
          </a:xfrm>
        </p:spPr>
        <p:txBody>
          <a:bodyPr/>
          <a:lstStyle/>
          <a:p>
            <a:r>
              <a:rPr lang="en-US" err="1"/>
              <a:t>Entrainement</a:t>
            </a:r>
            <a:r>
              <a:rPr lang="en-US"/>
              <a:t> des IA et </a:t>
            </a:r>
            <a:r>
              <a:rPr lang="en-US" err="1"/>
              <a:t>optimisation</a:t>
            </a:r>
            <a:r>
              <a:rPr lang="en-US"/>
              <a:t> des </a:t>
            </a:r>
            <a:r>
              <a:rPr lang="en-US" err="1"/>
              <a:t>hyperparamètres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D4E821D-E2D2-C85F-39AF-48F997E4B1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155" y="3992880"/>
            <a:ext cx="5863591" cy="1341120"/>
          </a:xfrm>
        </p:spPr>
        <p:txBody>
          <a:bodyPr/>
          <a:lstStyle/>
          <a:p>
            <a:r>
              <a:rPr lang="en-US" err="1"/>
              <a:t>Entrainement</a:t>
            </a:r>
            <a:r>
              <a:rPr lang="en-US"/>
              <a:t> de </a:t>
            </a:r>
            <a:r>
              <a:rPr lang="en-US" err="1"/>
              <a:t>l’IA</a:t>
            </a:r>
            <a:r>
              <a:rPr lang="en-US"/>
              <a:t> via LSTM et </a:t>
            </a:r>
            <a:r>
              <a:rPr lang="en-US" err="1"/>
              <a:t>ConvLSTM</a:t>
            </a:r>
            <a:r>
              <a:rPr lang="en-US"/>
              <a:t>.</a:t>
            </a:r>
            <a:br>
              <a:rPr lang="en-US"/>
            </a:br>
            <a:r>
              <a:rPr lang="en-US" err="1"/>
              <a:t>Optimisation</a:t>
            </a:r>
            <a:r>
              <a:rPr lang="en-US"/>
              <a:t> des </a:t>
            </a:r>
            <a:r>
              <a:rPr lang="en-US" err="1"/>
              <a:t>hyperparamètres</a:t>
            </a:r>
            <a:r>
              <a:rPr lang="en-US"/>
              <a:t> via </a:t>
            </a:r>
            <a:r>
              <a:rPr lang="en-US" err="1"/>
              <a:t>Optuna</a:t>
            </a:r>
            <a:r>
              <a:rPr lang="en-US"/>
              <a:t>, Transformer et PSO.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93E9C0E-6C19-13B3-6BA0-805891EECF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1604" y="1744981"/>
            <a:ext cx="1663065" cy="2073275"/>
          </a:xfrm>
        </p:spPr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Espace réservé de la date 1">
            <a:extLst>
              <a:ext uri="{FF2B5EF4-FFF2-40B4-BE49-F238E27FC236}">
                <a16:creationId xmlns:a16="http://schemas.microsoft.com/office/drawing/2014/main" id="{70A56025-4DFD-4FD6-A38D-A0C7B530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246319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0880-C0B5-493A-5434-80817762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FC482-46EC-9C7B-A509-D94C1A18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36C5D00-CFB8-E30B-70E8-79FF0EF9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585" y="819305"/>
            <a:ext cx="7268829" cy="54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7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A39A6-2748-A719-69DC-5E9AECFE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A8AF3D-B826-4C4A-D62F-DFDBA02B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8275F959-03F5-7A90-AFF0-6EE48AEE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Tests avec les différents modèles </a:t>
            </a:r>
          </a:p>
        </p:txBody>
      </p:sp>
      <p:pic>
        <p:nvPicPr>
          <p:cNvPr id="12" name="Image 1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FAF1150-CC01-1A9B-E011-F6E33C2F4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33" y="1718218"/>
            <a:ext cx="10964334" cy="4395230"/>
          </a:xfrm>
          <a:prstGeom prst="rect">
            <a:avLst/>
          </a:prstGeom>
        </p:spPr>
      </p:pic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D430E9D0-0C25-BCF6-6DD5-EDFCC013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690013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5A82-1A64-378F-E21F-18715A67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880F7E-0DAB-43A9-3360-D7211161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D271B94-8ED6-06D3-F24C-FA74D377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Analyse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949554C-AB21-E3CF-584E-F174E388A2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273" y="1374983"/>
            <a:ext cx="11090741" cy="4551765"/>
          </a:xfrm>
        </p:spPr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FR" sz="1800">
                <a:ea typeface="+mn-lt"/>
                <a:cs typeface="+mn-lt"/>
              </a:rPr>
              <a:t>Le graphique compare les performances de plusieurs architectures de réseaux de neurones (</a:t>
            </a:r>
            <a:r>
              <a:rPr lang="fr-FR" sz="1800" err="1">
                <a:ea typeface="+mn-lt"/>
                <a:cs typeface="+mn-lt"/>
              </a:rPr>
              <a:t>ConvLSTM</a:t>
            </a:r>
            <a:r>
              <a:rPr lang="fr-FR" sz="1800">
                <a:ea typeface="+mn-lt"/>
                <a:cs typeface="+mn-lt"/>
              </a:rPr>
              <a:t>, LSTM, </a:t>
            </a:r>
            <a:r>
              <a:rPr lang="fr-FR" sz="1800" err="1">
                <a:ea typeface="+mn-lt"/>
                <a:cs typeface="+mn-lt"/>
              </a:rPr>
              <a:t>ConvLSTM</a:t>
            </a:r>
            <a:r>
              <a:rPr lang="fr-FR" sz="1800">
                <a:ea typeface="+mn-lt"/>
                <a:cs typeface="+mn-lt"/>
              </a:rPr>
              <a:t> optimisé par Optuna, Transformer)</a:t>
            </a:r>
          </a:p>
          <a:p>
            <a:endParaRPr lang="fr-FR" sz="1800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fr-FR" sz="1800">
                <a:ea typeface="+mn-lt"/>
                <a:cs typeface="+mn-lt"/>
              </a:rPr>
              <a:t>On y observe l’évolution du coefficient de détermination R², à la fois sur le jeu de données réduit par matrice de corrélation et sur des données complètes.</a:t>
            </a:r>
            <a:endParaRPr lang="fr-FR">
              <a:cs typeface="Arial"/>
            </a:endParaRPr>
          </a:p>
          <a:p>
            <a:pPr marL="342900" indent="-342900">
              <a:buChar char="•"/>
            </a:pPr>
            <a:endParaRPr lang="fr-FR" sz="1800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fr-FR" sz="1800">
                <a:ea typeface="+mn-lt"/>
                <a:cs typeface="+mn-lt"/>
              </a:rPr>
              <a:t>Le modèle </a:t>
            </a:r>
            <a:r>
              <a:rPr lang="fr-FR" sz="1800" err="1">
                <a:ea typeface="+mn-lt"/>
                <a:cs typeface="+mn-lt"/>
              </a:rPr>
              <a:t>ConvLSTM</a:t>
            </a:r>
            <a:r>
              <a:rPr lang="fr-FR" sz="1800">
                <a:ea typeface="+mn-lt"/>
                <a:cs typeface="+mn-lt"/>
              </a:rPr>
              <a:t> optimisé avec Optuna atteint les meilleures performances, avec un R² de 0,96 sur données réduites et 0,88 sur données complètes.</a:t>
            </a:r>
          </a:p>
          <a:p>
            <a:pPr marL="342900" indent="-342900">
              <a:buChar char="•"/>
            </a:pPr>
            <a:endParaRPr lang="fr-FR" sz="1800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fr-FR" sz="1800">
                <a:ea typeface="+mn-lt"/>
                <a:cs typeface="+mn-lt"/>
              </a:rPr>
              <a:t>En comparaison, un </a:t>
            </a:r>
            <a:r>
              <a:rPr lang="fr-FR" sz="1800" err="1">
                <a:ea typeface="+mn-lt"/>
                <a:cs typeface="+mn-lt"/>
              </a:rPr>
              <a:t>ConvLSTM</a:t>
            </a:r>
            <a:r>
              <a:rPr lang="fr-FR" sz="1800">
                <a:ea typeface="+mn-lt"/>
                <a:cs typeface="+mn-lt"/>
              </a:rPr>
              <a:t> sans optimisation atteint un R² de 0,79 (réduit) et 0,75 (complet), tandis que le LSTM classique et le Transformer se situent en retrait.</a:t>
            </a:r>
            <a:endParaRPr lang="fr-FR">
              <a:cs typeface="Arial"/>
            </a:endParaRPr>
          </a:p>
          <a:p>
            <a:pPr marL="342900" indent="-342900">
              <a:buChar char="•"/>
            </a:pPr>
            <a:endParaRPr lang="fr-FR" sz="1800">
              <a:cs typeface="Arial"/>
            </a:endParaRPr>
          </a:p>
          <a:p>
            <a:pPr marL="342900" indent="-342900">
              <a:buChar char="•"/>
            </a:pPr>
            <a:r>
              <a:rPr lang="fr-FR" sz="1800">
                <a:ea typeface="+mn-lt"/>
                <a:cs typeface="+mn-lt"/>
              </a:rPr>
              <a:t>L’approche </a:t>
            </a:r>
            <a:r>
              <a:rPr lang="fr-FR" sz="1800" err="1">
                <a:ea typeface="+mn-lt"/>
                <a:cs typeface="+mn-lt"/>
              </a:rPr>
              <a:t>ConvLSTM</a:t>
            </a:r>
            <a:r>
              <a:rPr lang="fr-FR" sz="1800">
                <a:ea typeface="+mn-lt"/>
                <a:cs typeface="+mn-lt"/>
              </a:rPr>
              <a:t> avec Optuna est la solution la plus performante.</a:t>
            </a:r>
            <a:endParaRPr lang="fr-FR" sz="1800">
              <a:cs typeface="Arial"/>
            </a:endParaRPr>
          </a:p>
          <a:p>
            <a:endParaRPr lang="fr-FR" sz="1800">
              <a:cs typeface="Arial"/>
            </a:endParaRP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A1CEE40B-DF81-AA50-BE7A-FB683290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07265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29EF-A49F-2E4E-5662-D7FC71B0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CC4ADD-198A-4B86-AADF-B8CC62BE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89F631F-63B2-6DAC-3AF1-E2F54FD1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 err="1"/>
              <a:t>ConvLSTM</a:t>
            </a:r>
            <a:r>
              <a:rPr lang="fr-FR"/>
              <a:t> + Optuna  avec les données réduites</a:t>
            </a:r>
          </a:p>
        </p:txBody>
      </p:sp>
      <p:pic>
        <p:nvPicPr>
          <p:cNvPr id="7" name="Image 6" descr="Une image contenant texte, Tracé, diagramme, ligne&#10;&#10;Le contenu généré par l’IA peut être incorrect.">
            <a:extLst>
              <a:ext uri="{FF2B5EF4-FFF2-40B4-BE49-F238E27FC236}">
                <a16:creationId xmlns:a16="http://schemas.microsoft.com/office/drawing/2014/main" id="{36770B52-028C-5F81-1590-2E968F2750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42" t="6630" r="8017" b="5456"/>
          <a:stretch>
            <a:fillRect/>
          </a:stretch>
        </p:blipFill>
        <p:spPr>
          <a:xfrm>
            <a:off x="1374296" y="1638294"/>
            <a:ext cx="4912345" cy="3158569"/>
          </a:xfrm>
          <a:prstGeom prst="rect">
            <a:avLst/>
          </a:prstGeom>
        </p:spPr>
      </p:pic>
      <p:pic>
        <p:nvPicPr>
          <p:cNvPr id="8" name="Image 7" descr="Une image contenant Tracé, ligne, diagramme, texte&#10;&#10;Le contenu généré par l’IA peut être incorrect.">
            <a:extLst>
              <a:ext uri="{FF2B5EF4-FFF2-40B4-BE49-F238E27FC236}">
                <a16:creationId xmlns:a16="http://schemas.microsoft.com/office/drawing/2014/main" id="{61CE9434-8D89-4729-75A2-09B0C7D28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201" y="1381119"/>
            <a:ext cx="3515699" cy="3515699"/>
          </a:xfrm>
          <a:prstGeom prst="rect">
            <a:avLst/>
          </a:prstGeom>
        </p:spPr>
      </p:pic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44F95771-0836-C339-C4DB-F25E857766A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324" y="5120638"/>
            <a:ext cx="10911352" cy="973025"/>
          </a:xfrm>
        </p:spPr>
        <p:txBody>
          <a:bodyPr lIns="91440" tIns="45720" rIns="91440" bIns="45720" anchor="t"/>
          <a:lstStyle/>
          <a:p>
            <a:r>
              <a:rPr lang="fr-FR" sz="1800"/>
              <a:t>Le modèle </a:t>
            </a:r>
            <a:r>
              <a:rPr lang="fr-FR" sz="1800" err="1"/>
              <a:t>ConvLSTM</a:t>
            </a:r>
            <a:r>
              <a:rPr lang="fr-FR" sz="1800"/>
              <a:t> optimisé par Optuna présente d’excellentes performances sur les données réduites, avec des prédictions très proches des valeurs réelles (R² = 0.96, MAE = 1.92), comme le montrent les courbes de série temporelle et le nuage de points</a:t>
            </a:r>
            <a:endParaRPr lang="fr-FR" sz="1800">
              <a:ea typeface="+mn-lt"/>
              <a:cs typeface="+mn-lt"/>
            </a:endParaRP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21268D6F-E89C-935B-1B51-2E9E838D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671095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8926-3130-5C26-EEB8-9861E04C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A5D41D-A5B6-0044-99E7-4D6439D3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D7A8805-FE1F-E546-EE20-97BAD9D5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Entrainement du model (val-</a:t>
            </a:r>
            <a:r>
              <a:rPr lang="fr-FR" err="1"/>
              <a:t>loss</a:t>
            </a:r>
            <a:r>
              <a:rPr lang="fr-FR"/>
              <a:t> = </a:t>
            </a:r>
            <a:r>
              <a:rPr lang="fr-FR" err="1"/>
              <a:t>mae</a:t>
            </a:r>
            <a:r>
              <a:rPr lang="fr-FR"/>
              <a:t>)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339C3A5F-5E9E-95F6-CAB5-3253CA9E9A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324" y="5120638"/>
            <a:ext cx="10911352" cy="973025"/>
          </a:xfrm>
        </p:spPr>
        <p:txBody>
          <a:bodyPr lIns="91440" tIns="45720" rIns="91440" bIns="45720" anchor="t"/>
          <a:lstStyle/>
          <a:p>
            <a:r>
              <a:rPr lang="fr-FR" sz="1800">
                <a:ea typeface="+mn-lt"/>
                <a:cs typeface="+mn-lt"/>
              </a:rPr>
              <a:t>Pour ce modèle, l'entrainement ce stop au bout de 345 </a:t>
            </a:r>
            <a:r>
              <a:rPr lang="fr-FR" sz="1800" err="1">
                <a:ea typeface="+mn-lt"/>
                <a:cs typeface="+mn-lt"/>
              </a:rPr>
              <a:t>epochs</a:t>
            </a:r>
            <a:r>
              <a:rPr lang="fr-FR" sz="1800">
                <a:ea typeface="+mn-lt"/>
                <a:cs typeface="+mn-lt"/>
              </a:rPr>
              <a:t>. Car il ne note pas de nette amélioration pour la suite.</a:t>
            </a:r>
          </a:p>
        </p:txBody>
      </p:sp>
      <p:pic>
        <p:nvPicPr>
          <p:cNvPr id="6" name="Image 5" descr="scaled_dataset_loss_curve.png">
            <a:extLst>
              <a:ext uri="{FF2B5EF4-FFF2-40B4-BE49-F238E27FC236}">
                <a16:creationId xmlns:a16="http://schemas.microsoft.com/office/drawing/2014/main" id="{BDA26BFF-9B47-D1C4-1069-AE85A118B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13" y="1367403"/>
            <a:ext cx="9060068" cy="3637278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652EBA9-32E4-3D96-D78E-62A2EB8E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72681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CB7C-82F0-0CB2-C4C1-AABBDED2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C1D2F3-006C-E34C-E7D9-85936718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5A8EC8E-D2E8-26D2-5BCA-843D12A3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 err="1"/>
              <a:t>ConvLSTM</a:t>
            </a:r>
            <a:r>
              <a:rPr lang="fr-FR"/>
              <a:t> + Optuna  avec les données réduites / </a:t>
            </a:r>
            <a:r>
              <a:rPr lang="fr-FR" err="1"/>
              <a:t>Epochs</a:t>
            </a:r>
            <a:r>
              <a:rPr lang="fr-FR"/>
              <a:t> = 700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B49DFACB-B97C-1510-4BA4-84663D26CC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324" y="5120638"/>
            <a:ext cx="10911352" cy="973025"/>
          </a:xfrm>
        </p:spPr>
        <p:txBody>
          <a:bodyPr lIns="91440" tIns="45720" rIns="91440" bIns="45720" anchor="t"/>
          <a:lstStyle/>
          <a:p>
            <a:r>
              <a:rPr lang="fr-FR" sz="1800"/>
              <a:t>Sur ce modèle </a:t>
            </a:r>
            <a:r>
              <a:rPr lang="fr-FR" sz="1800" err="1"/>
              <a:t>ConvLSTM</a:t>
            </a:r>
            <a:r>
              <a:rPr lang="fr-FR" sz="1800"/>
              <a:t> optimisé par Optuna nous obtenons un R² = 0.869, ce qui est un peu moins performant que avant, pourtant nous avons augmenté le nombre </a:t>
            </a:r>
            <a:r>
              <a:rPr lang="fr-FR" sz="1800" err="1"/>
              <a:t>Epochs</a:t>
            </a:r>
            <a:r>
              <a:rPr lang="fr-FR" sz="1800"/>
              <a:t>. Il est peut être sur entrainé sur ce </a:t>
            </a:r>
            <a:r>
              <a:rPr lang="fr-FR" sz="1800" err="1"/>
              <a:t>modele</a:t>
            </a:r>
            <a:r>
              <a:rPr lang="fr-FR" sz="1800"/>
              <a:t>.</a:t>
            </a:r>
            <a:endParaRPr lang="fr-FR" sz="1800">
              <a:ea typeface="+mn-lt"/>
              <a:cs typeface="+mn-lt"/>
            </a:endParaRPr>
          </a:p>
        </p:txBody>
      </p:sp>
      <p:pic>
        <p:nvPicPr>
          <p:cNvPr id="6" name="Image 5" descr="Une image contenant texte, Tracé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2754D34D-4497-C701-4561-DC2784D5EF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91" t="7393" r="7532" b="3501"/>
          <a:stretch>
            <a:fillRect/>
          </a:stretch>
        </p:blipFill>
        <p:spPr>
          <a:xfrm>
            <a:off x="505239" y="1568680"/>
            <a:ext cx="5594425" cy="3557389"/>
          </a:xfrm>
          <a:prstGeom prst="rect">
            <a:avLst/>
          </a:prstGeom>
        </p:spPr>
      </p:pic>
      <p:pic>
        <p:nvPicPr>
          <p:cNvPr id="10" name="Image 9" descr="Une image contenant diagramme, Tracé, ligne, texte&#10;&#10;Le contenu généré par l’IA peut être incorrect.">
            <a:extLst>
              <a:ext uri="{FF2B5EF4-FFF2-40B4-BE49-F238E27FC236}">
                <a16:creationId xmlns:a16="http://schemas.microsoft.com/office/drawing/2014/main" id="{8835E7EC-3E50-4D80-968D-AE2CD8D7D9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72" t="7591" r="7833" b="3220"/>
          <a:stretch>
            <a:fillRect/>
          </a:stretch>
        </p:blipFill>
        <p:spPr>
          <a:xfrm>
            <a:off x="7155511" y="1462532"/>
            <a:ext cx="3617269" cy="3658871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9A4FBDFF-CC06-7CB9-759E-1654368E96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467285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EA1E-CF89-8FEC-3AE0-C0DA1674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C7E0D6-8C90-1D16-0996-D5F3FDDC6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037780C-A1F0-9620-3A19-4FED07A8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Points de vigilance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1F1A7CA-64D4-58AE-D010-103695F44877}"/>
              </a:ext>
            </a:extLst>
          </p:cNvPr>
          <p:cNvSpPr>
            <a:spLocks noGrp="1" noChangeArrowheads="1"/>
          </p:cNvSpPr>
          <p:nvPr>
            <p:ph type="body" sz="quarter" idx="19"/>
          </p:nvPr>
        </p:nvSpPr>
        <p:spPr bwMode="auto">
          <a:xfrm>
            <a:off x="593249" y="1582343"/>
            <a:ext cx="1100550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Variabilité importante des résultats selon les runs</a:t>
            </a:r>
            <a:endParaRPr lang="fr-FR" altLang="fr-FR" sz="1800">
              <a:latin typeface="Arial"/>
              <a:cs typeface="Arial"/>
            </a:endParaRPr>
          </a:p>
          <a:p>
            <a:pPr marL="182245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Malgré l’optimisation (</a:t>
            </a:r>
            <a:r>
              <a:rPr kumimoji="0" lang="fr-FR" altLang="fr-FR" sz="1800" b="0" i="0" u="none" strike="noStrike" cap="none" normalizeH="0" baseline="0" err="1">
                <a:ln>
                  <a:noFill/>
                </a:ln>
                <a:effectLst/>
                <a:latin typeface="Arial"/>
                <a:cs typeface="Arial"/>
              </a:rPr>
              <a:t>Optuna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), après plusieurs tests (~2h30 par run), le score R² varie significativement d’un run à l’autre mais pour l’instant le meilleur score que nous avons obtenu pour R² est 0,96.</a:t>
            </a:r>
            <a:endParaRPr lang="fr-FR" altLang="fr-FR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Temps de calcul conséquent</a:t>
            </a:r>
            <a:endParaRPr lang="fr-FR" altLang="fr-FR" sz="1800">
              <a:latin typeface="Arial"/>
              <a:cs typeface="Arial"/>
            </a:endParaRPr>
          </a:p>
          <a:p>
            <a:pPr marL="182245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Chaque session d’optimisation nécessite environ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2h30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sur la VM actuelle.</a:t>
            </a:r>
            <a:endParaRPr lang="fr-FR" altLang="fr-FR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80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Sensibilité à l’initialisation et aux données</a:t>
            </a:r>
            <a:endParaRPr lang="fr-FR" altLang="fr-FR" sz="1800">
              <a:latin typeface="Arial"/>
              <a:cs typeface="Arial"/>
            </a:endParaRPr>
          </a:p>
          <a:p>
            <a:pPr marL="182245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Les résultats dépendent du split des données et des conditions initiales de l’optimiseur.</a:t>
            </a:r>
            <a:endParaRPr lang="fr-FR" altLang="fr-FR" sz="18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182245" lvl="1" indent="0" defTabSz="914400">
              <a:spcBef>
                <a:spcPct val="0"/>
              </a:spcBef>
              <a:spcAft>
                <a:spcPct val="0"/>
              </a:spcAft>
              <a:buNone/>
            </a:pPr>
            <a:endParaRPr lang="fr-FR" altLang="fr-FR" sz="1800">
              <a:latin typeface="Arial"/>
              <a:cs typeface="Arial"/>
            </a:endParaRPr>
          </a:p>
          <a:p>
            <a:pPr marL="285750" indent="-285750" defTabSz="91440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fr-FR" sz="1800" b="1">
                <a:latin typeface="Arial"/>
                <a:cs typeface="Arial"/>
              </a:rPr>
              <a:t>Dépendance du nombre </a:t>
            </a:r>
            <a:r>
              <a:rPr lang="fr-FR" sz="1800" b="1" err="1">
                <a:latin typeface="Arial"/>
                <a:cs typeface="Arial"/>
              </a:rPr>
              <a:t>epoch</a:t>
            </a:r>
            <a:r>
              <a:rPr lang="fr-FR" sz="1800" b="1">
                <a:latin typeface="Arial"/>
                <a:cs typeface="Arial"/>
              </a:rPr>
              <a:t> </a:t>
            </a:r>
            <a:endParaRPr lang="fr-FR" sz="1800">
              <a:latin typeface="Arial"/>
              <a:cs typeface="Arial"/>
            </a:endParaRPr>
          </a:p>
          <a:p>
            <a:pPr marL="182245" lvl="1" indent="0" defTabSz="914400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>
                <a:ea typeface="+mn-lt"/>
                <a:cs typeface="+mn-lt"/>
              </a:rPr>
              <a:t>Les résultats dépendent du nombre d’époques utilisées pour entraîner le modèle.</a:t>
            </a:r>
          </a:p>
          <a:p>
            <a:pPr marL="182245" lvl="1" indent="0" defTabSz="914400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>
                <a:ea typeface="+mn-lt"/>
                <a:cs typeface="+mn-lt"/>
              </a:rPr>
              <a:t>(sous-entrainés ou </a:t>
            </a:r>
            <a:r>
              <a:rPr lang="fr-FR" sz="1800" err="1">
                <a:ea typeface="+mn-lt"/>
                <a:cs typeface="+mn-lt"/>
              </a:rPr>
              <a:t>sur-entrainés</a:t>
            </a:r>
            <a:r>
              <a:rPr lang="fr-FR" sz="1800">
                <a:ea typeface="+mn-lt"/>
                <a:cs typeface="+mn-lt"/>
              </a:rPr>
              <a:t>)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F2AC7973-C6DE-9A00-81D2-2D33865B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805559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CFE1-B4B5-7A95-9F8E-6747A49E6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8242A5-1B22-8BFF-A8C1-E5C92DA5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9EF5AE-56D7-4A2B-B0E3-BCC40C43C5F5}" type="slidenum">
              <a:rPr lang="fr-FR" smtClean="0"/>
              <a:pPr>
                <a:spcAft>
                  <a:spcPts val="600"/>
                </a:spcAft>
              </a:pPr>
              <a:t>19</a:t>
            </a:fld>
            <a:endParaRPr lang="fr-FR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F30F87D-07D9-7DC0-C7AB-7C80C511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155" y="1744982"/>
            <a:ext cx="5863591" cy="2073275"/>
          </a:xfrm>
        </p:spPr>
        <p:txBody>
          <a:bodyPr/>
          <a:lstStyle/>
          <a:p>
            <a:r>
              <a:rPr lang="en-US" err="1"/>
              <a:t>Résultats</a:t>
            </a:r>
            <a:r>
              <a:rPr lang="en-US"/>
              <a:t> au 30/06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240A94A-4C68-EE27-F03F-392BEC82DD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155" y="3992880"/>
            <a:ext cx="5863591" cy="1341120"/>
          </a:xfrm>
        </p:spPr>
        <p:txBody>
          <a:bodyPr/>
          <a:lstStyle/>
          <a:p>
            <a:r>
              <a:rPr lang="en-US" err="1"/>
              <a:t>Entrainement</a:t>
            </a:r>
            <a:r>
              <a:rPr lang="en-US"/>
              <a:t> de </a:t>
            </a:r>
            <a:r>
              <a:rPr lang="en-US" err="1"/>
              <a:t>l’IA</a:t>
            </a:r>
            <a:r>
              <a:rPr lang="en-US"/>
              <a:t> via </a:t>
            </a:r>
            <a:r>
              <a:rPr lang="en-US" err="1"/>
              <a:t>ConvLSTM</a:t>
            </a:r>
            <a:r>
              <a:rPr lang="en-US"/>
              <a:t>.</a:t>
            </a:r>
            <a:br>
              <a:rPr lang="en-US"/>
            </a:br>
            <a:r>
              <a:rPr lang="en-US" err="1"/>
              <a:t>Optimisation</a:t>
            </a:r>
            <a:r>
              <a:rPr lang="en-US"/>
              <a:t> des </a:t>
            </a:r>
            <a:r>
              <a:rPr lang="en-US" err="1"/>
              <a:t>hyperparamètres</a:t>
            </a:r>
            <a:r>
              <a:rPr lang="en-US"/>
              <a:t> via </a:t>
            </a:r>
            <a:r>
              <a:rPr lang="en-US" err="1"/>
              <a:t>Optuna</a:t>
            </a:r>
            <a:r>
              <a:rPr lang="en-US"/>
              <a:t>.</a:t>
            </a:r>
          </a:p>
          <a:p>
            <a:r>
              <a:rPr lang="en-US" err="1"/>
              <a:t>Résultats</a:t>
            </a:r>
            <a:r>
              <a:rPr lang="en-US"/>
              <a:t> de </a:t>
            </a:r>
            <a:r>
              <a:rPr lang="en-US" err="1"/>
              <a:t>l’architecture</a:t>
            </a:r>
            <a:r>
              <a:rPr lang="en-US"/>
              <a:t> Transformer,</a:t>
            </a:r>
          </a:p>
          <a:p>
            <a:r>
              <a:rPr lang="en-US"/>
              <a:t>Dataset avec données </a:t>
            </a:r>
            <a:r>
              <a:rPr lang="en-US" err="1"/>
              <a:t>réduites</a:t>
            </a:r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7E334E5-0925-40B5-7BCF-AFD7455542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1604" y="1744981"/>
            <a:ext cx="1663065" cy="2073275"/>
          </a:xfrm>
        </p:spPr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5" name="Espace réservé de la date 1">
            <a:extLst>
              <a:ext uri="{FF2B5EF4-FFF2-40B4-BE49-F238E27FC236}">
                <a16:creationId xmlns:a16="http://schemas.microsoft.com/office/drawing/2014/main" id="{0329CAF1-9425-8D05-5810-91E3DC90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4666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A27A66-E2D4-C3AA-A373-1D454043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EE78AFB-8C15-9771-AF91-FDFA3179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Tests avec les différents modèles 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CFFFAE81-7AD7-10DF-A605-16194417C5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135231"/>
              </p:ext>
            </p:extLst>
          </p:nvPr>
        </p:nvGraphicFramePr>
        <p:xfrm>
          <a:off x="534986" y="1737362"/>
          <a:ext cx="11110279" cy="4517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2274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B64A-1A64-BFE2-ADF5-7284287F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07EB85-5AC9-1E5A-B2C8-369A380D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1085DC6-E1A7-F3C8-50C0-2C492A12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Résultats</a:t>
            </a:r>
            <a:r>
              <a:rPr lang="en-US"/>
              <a:t> de </a:t>
            </a:r>
            <a:r>
              <a:rPr lang="en-US" err="1"/>
              <a:t>l’architecture</a:t>
            </a:r>
            <a:r>
              <a:rPr lang="en-US"/>
              <a:t> Transformer</a:t>
            </a:r>
            <a:br>
              <a:rPr lang="en-US"/>
            </a:br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FD75E26-7640-CBB5-6BDD-AEE5C61EFB9A}"/>
              </a:ext>
            </a:extLst>
          </p:cNvPr>
          <p:cNvGrpSpPr/>
          <p:nvPr/>
        </p:nvGrpSpPr>
        <p:grpSpPr>
          <a:xfrm>
            <a:off x="759249" y="1671341"/>
            <a:ext cx="10673502" cy="3535362"/>
            <a:chOff x="759249" y="1671341"/>
            <a:chExt cx="10673502" cy="3535362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37DD2B1F-649B-58B4-34A4-52401DA27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018"/>
            <a:stretch>
              <a:fillRect/>
            </a:stretch>
          </p:blipFill>
          <p:spPr>
            <a:xfrm>
              <a:off x="759249" y="1671341"/>
              <a:ext cx="3650302" cy="3535362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A8C935D3-B4BD-D3E3-8D75-E7F1D204F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4070" y="1933534"/>
              <a:ext cx="6878681" cy="2724231"/>
            </a:xfrm>
            <a:prstGeom prst="rect">
              <a:avLst/>
            </a:prstGeom>
          </p:spPr>
        </p:pic>
      </p:grp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DC03BE7E-56EA-25F1-A2B5-246898A7B88F}"/>
              </a:ext>
            </a:extLst>
          </p:cNvPr>
          <p:cNvSpPr txBox="1">
            <a:spLocks/>
          </p:cNvSpPr>
          <p:nvPr/>
        </p:nvSpPr>
        <p:spPr>
          <a:xfrm>
            <a:off x="670900" y="5622290"/>
            <a:ext cx="11110279" cy="462913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58" indent="-18255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42" indent="-18414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37" indent="-1777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L’ajout d’</a:t>
            </a:r>
            <a:r>
              <a:rPr lang="fr-FR" err="1"/>
              <a:t>Optuna</a:t>
            </a:r>
            <a:r>
              <a:rPr lang="fr-FR"/>
              <a:t> avec l’architecture Transformer n’a pas apporté d’amélioration. La suite de l’étude se concentrera donc sur le modèle </a:t>
            </a:r>
            <a:r>
              <a:rPr lang="fr-FR" err="1"/>
              <a:t>ConvLSTM</a:t>
            </a:r>
            <a:r>
              <a:rPr lang="fr-FR"/>
              <a:t> + Optuna, avec un R² de </a:t>
            </a:r>
            <a:r>
              <a:rPr lang="fr-FR" b="1"/>
              <a:t>0,9624</a:t>
            </a:r>
            <a:r>
              <a:rPr lang="fr-FR"/>
              <a:t> .</a:t>
            </a: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01BF36D2-9218-169F-DB26-EE590302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302747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73BD-49CE-9B45-9834-4C6132021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D2B02F-C3E5-D197-8A37-CA262AA6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88B12D5-090D-5EC1-813C-88B5C430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fr-FR"/>
              <a:t>Exécution de plusieurs modèles en faisant varier le nombre </a:t>
            </a:r>
            <a:r>
              <a:rPr lang="fr-FR" err="1"/>
              <a:t>epoch</a:t>
            </a:r>
            <a:r>
              <a:rPr lang="fr-FR"/>
              <a:t> et le </a:t>
            </a:r>
            <a:r>
              <a:rPr lang="fr-FR" err="1"/>
              <a:t>window</a:t>
            </a:r>
            <a:r>
              <a:rPr lang="fr-FR"/>
              <a:t> size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0A79499-A342-DA0B-8883-2E0A056545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/>
              <a:t>Le plus performant à été celui avec </a:t>
            </a:r>
            <a:r>
              <a:rPr lang="fr-FR" err="1"/>
              <a:t>windows</a:t>
            </a:r>
            <a:r>
              <a:rPr lang="fr-FR"/>
              <a:t> size 42 et </a:t>
            </a:r>
            <a:r>
              <a:rPr lang="fr-FR" err="1"/>
              <a:t>epochs</a:t>
            </a:r>
            <a:r>
              <a:rPr lang="fr-FR"/>
              <a:t> 350.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D45A9FE-C885-5952-5A62-2273C7FCE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720" y="1621421"/>
            <a:ext cx="4742120" cy="474212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5C34214-2B59-E96E-EBFC-494368BA9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71337"/>
            <a:ext cx="6428076" cy="3856846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1F42F087-3005-7EC6-0BD3-C0B8DC3A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291931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9040-E92F-6500-DC53-47D399E5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D9CEDB-2E20-2D1C-7B9B-9A205777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5268539-8C60-F34B-BC07-805824A24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fr-FR"/>
              <a:t>Evolution du MAE a chaque essai avec optimisation des HP avec OPTUNA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E9AA503-F065-A96E-75DE-FC61F425AD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1818" y="5930584"/>
            <a:ext cx="11110279" cy="354806"/>
          </a:xfrm>
        </p:spPr>
        <p:txBody>
          <a:bodyPr/>
          <a:lstStyle/>
          <a:p>
            <a:r>
              <a:rPr lang="fr-FR"/>
              <a:t>Finalement même en essayant d’optimiser les HP, le meilleur résultat est au numéro trial 0…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6037763-4736-9BFF-033C-CC2EFBAF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854" y="1731207"/>
            <a:ext cx="8919100" cy="4199377"/>
          </a:xfrm>
          <a:prstGeom prst="rect">
            <a:avLst/>
          </a:prstGeom>
        </p:spPr>
      </p:pic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78F4C43C-2353-E4B5-493A-3FB57C6E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20827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28DCA-5233-F7C0-FB14-C0281CF3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54D123-8B44-530E-88C9-D3821D79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39A4542-8729-202B-1D0C-EF6D9536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Répartition des HP en prenant en compte les 14 trials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770E8E7-651B-135B-80D1-3946665D6A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3216" y="4887116"/>
            <a:ext cx="11110279" cy="1202966"/>
          </a:xfrm>
        </p:spPr>
        <p:txBody>
          <a:bodyPr/>
          <a:lstStyle/>
          <a:p>
            <a:r>
              <a:rPr lang="fr-FR"/>
              <a:t>On observe un gros écart type et donc une forte variabilité des HP, dans la prochaine slide on va vérifier les HP des trials avec le plus petit MAE.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1EC01F01-22B1-AA70-F08F-CB5D40976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87995"/>
              </p:ext>
            </p:extLst>
          </p:nvPr>
        </p:nvGraphicFramePr>
        <p:xfrm>
          <a:off x="1756792" y="223107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989855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02159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653206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65940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3991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STD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90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0,0001123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0,00957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0,00364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0,0034339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53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filters1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26,024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31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filters2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30,634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74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Dense_units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82,866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36,642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879633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DA325FA4-1DE7-B6FF-B54F-CCCE66405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828437"/>
              </p:ext>
            </p:extLst>
          </p:nvPr>
        </p:nvGraphicFramePr>
        <p:xfrm>
          <a:off x="1756791" y="2231074"/>
          <a:ext cx="88609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817">
                  <a:extLst>
                    <a:ext uri="{9D8B030D-6E8A-4147-A177-3AD203B41FA5}">
                      <a16:colId xmlns:a16="http://schemas.microsoft.com/office/drawing/2014/main" val="2398985540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2202159670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3165320637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386594011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1443991799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2102379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BestValues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90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0,0001123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0,0034339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0,00795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53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filters1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26,024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31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filters2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30,634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74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Dense_units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82,866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36,642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879633"/>
                  </a:ext>
                </a:extLst>
              </a:tr>
            </a:tbl>
          </a:graphicData>
        </a:graphic>
      </p:graphicFrame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7E023472-A127-5AD5-A951-5E43C74D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2342965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6C60B1-83FB-30C7-2214-E42A3CDB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CC162CA-7F5C-AFF8-8EB7-574056E8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Répartition des HP en prenant en compte les 0;10-14 trials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9E731E7-E5D9-567D-E57E-56FA3C3BA7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6735" y="5064361"/>
            <a:ext cx="11110279" cy="850903"/>
          </a:xfrm>
        </p:spPr>
        <p:txBody>
          <a:bodyPr/>
          <a:lstStyle/>
          <a:p>
            <a:r>
              <a:rPr lang="fr-FR"/>
              <a:t>Pour une valeur MAE plus ou moins similaire lors de ces essais, on voit quand même qu’il existe plusieurs solutions d’HP.</a:t>
            </a:r>
          </a:p>
          <a:p>
            <a:r>
              <a:rPr lang="fr-FR"/>
              <a:t>Je vais par la suite essayer d’exécuter le model en fixant les HP sur leur valeurs « Moyenne » pour voir la performance de celui-ci.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0CD95FD-300B-75A0-F410-846E48590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3306"/>
              </p:ext>
            </p:extLst>
          </p:nvPr>
        </p:nvGraphicFramePr>
        <p:xfrm>
          <a:off x="1756791" y="2231074"/>
          <a:ext cx="88609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817">
                  <a:extLst>
                    <a:ext uri="{9D8B030D-6E8A-4147-A177-3AD203B41FA5}">
                      <a16:colId xmlns:a16="http://schemas.microsoft.com/office/drawing/2014/main" val="2398985540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2202159670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3165320637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386594011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1443991799"/>
                    </a:ext>
                  </a:extLst>
                </a:gridCol>
                <a:gridCol w="1476817">
                  <a:extLst>
                    <a:ext uri="{9D8B030D-6E8A-4147-A177-3AD203B41FA5}">
                      <a16:colId xmlns:a16="http://schemas.microsoft.com/office/drawing/2014/main" val="2102379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BestValues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90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0,00216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0,00795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53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filters1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65,5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4,8887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31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filters2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117,83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10,571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74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Dense_units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115,5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15,436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879633"/>
                  </a:ext>
                </a:extLst>
              </a:tr>
            </a:tbl>
          </a:graphicData>
        </a:graphic>
      </p:graphicFrame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A48E2D23-0481-BFA4-A72F-14D86FED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0935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CA6F-680E-CD5F-EF68-FBDDDC47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29677-8957-AD5B-9544-2625969B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0115" y="6468743"/>
            <a:ext cx="746760" cy="242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9EF5AE-56D7-4A2B-B0E3-BCC40C43C5F5}" type="slidenum">
              <a:rPr lang="fr-FR" smtClean="0"/>
              <a:pPr>
                <a:spcAft>
                  <a:spcPts val="600"/>
                </a:spcAft>
              </a:pPr>
              <a:t>26</a:t>
            </a:fld>
            <a:endParaRPr lang="fr-FR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707471BB-8DB1-E8B6-72CC-4C532AB0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155" y="1726168"/>
            <a:ext cx="6211665" cy="209208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err="1">
                <a:latin typeface="Arial Black"/>
                <a:cs typeface="Arial"/>
              </a:rPr>
              <a:t>Hyperparamètres</a:t>
            </a:r>
            <a:r>
              <a:rPr lang="en-US">
                <a:latin typeface="Arial Black"/>
                <a:cs typeface="Arial"/>
              </a:rPr>
              <a:t> </a:t>
            </a:r>
            <a:r>
              <a:rPr lang="en-US" err="1">
                <a:latin typeface="Arial Black"/>
                <a:cs typeface="Arial"/>
              </a:rPr>
              <a:t>figés</a:t>
            </a:r>
            <a:endParaRPr lang="fr-FR" err="1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9CDD114-51FB-E023-E40A-D99EF36CD7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155" y="3992880"/>
            <a:ext cx="5863591" cy="134112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Test du </a:t>
            </a:r>
            <a:r>
              <a:rPr lang="en-US" err="1">
                <a:ea typeface="+mn-lt"/>
                <a:cs typeface="+mn-lt"/>
              </a:rPr>
              <a:t>modèle</a:t>
            </a:r>
            <a:r>
              <a:rPr lang="en-US">
                <a:ea typeface="+mn-lt"/>
                <a:cs typeface="+mn-lt"/>
              </a:rPr>
              <a:t> avec des </a:t>
            </a:r>
            <a:r>
              <a:rPr lang="en-US" err="1">
                <a:ea typeface="+mn-lt"/>
                <a:cs typeface="+mn-lt"/>
              </a:rPr>
              <a:t>hyperparamètres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figés</a:t>
            </a:r>
            <a:r>
              <a:rPr lang="en-US">
                <a:ea typeface="+mn-lt"/>
                <a:cs typeface="+mn-lt"/>
              </a:rPr>
              <a:t>.</a:t>
            </a:r>
            <a:endParaRPr lang="fr-FR">
              <a:ea typeface="+mn-lt"/>
              <a:cs typeface="+mn-lt"/>
            </a:endParaRPr>
          </a:p>
          <a:p>
            <a:r>
              <a:rPr lang="fr-FR">
                <a:ea typeface="+mn-lt"/>
                <a:cs typeface="+mn-lt"/>
              </a:rPr>
              <a:t>Analyse statistique des erreurs.</a:t>
            </a:r>
          </a:p>
          <a:p>
            <a:r>
              <a:rPr lang="en-US">
                <a:latin typeface="Arial"/>
                <a:cs typeface="Arial"/>
              </a:rPr>
              <a:t>Analyse par </a:t>
            </a:r>
            <a:r>
              <a:rPr lang="en-US" err="1">
                <a:latin typeface="Arial"/>
                <a:cs typeface="Arial"/>
              </a:rPr>
              <a:t>bâtiment</a:t>
            </a:r>
            <a:r>
              <a:rPr lang="en-US">
                <a:latin typeface="Arial"/>
                <a:cs typeface="Arial"/>
              </a:rPr>
              <a:t>.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9E2269-893B-0D8C-8B5B-CA7E60D762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11604" y="1744981"/>
            <a:ext cx="1663065" cy="2073275"/>
          </a:xfrm>
        </p:spPr>
        <p:txBody>
          <a:bodyPr lIns="91440" tIns="45720" rIns="91440" bIns="45720" anchor="t"/>
          <a:lstStyle/>
          <a:p>
            <a:r>
              <a:rPr lang="en-US"/>
              <a:t>4</a:t>
            </a:r>
          </a:p>
        </p:txBody>
      </p:sp>
      <p:sp>
        <p:nvSpPr>
          <p:cNvPr id="5" name="Espace réservé de la date 1">
            <a:extLst>
              <a:ext uri="{FF2B5EF4-FFF2-40B4-BE49-F238E27FC236}">
                <a16:creationId xmlns:a16="http://schemas.microsoft.com/office/drawing/2014/main" id="{D5F8017D-3384-D99E-410F-1EABFC9C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3547286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F65E-DDF8-D129-E4F2-1FBB15EC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8AF8AA-E780-A504-199F-724A81FB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820BBC4-ED2E-5B9E-D1F7-36DF67C6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Test du modèle avec hyperparamètres figés</a:t>
            </a:r>
          </a:p>
        </p:txBody>
      </p:sp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15C06872-E36B-B018-3951-C8886D857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50805B-3A7B-BFAE-2C77-55FACCBDAF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4964" y="1558086"/>
            <a:ext cx="11110279" cy="4033996"/>
          </a:xfrm>
        </p:spPr>
        <p:txBody>
          <a:bodyPr lIns="91440" tIns="45720" rIns="91440" bIns="45720" anchor="t"/>
          <a:lstStyle/>
          <a:p>
            <a:r>
              <a:rPr lang="fr-FR" sz="1800">
                <a:cs typeface="Arial"/>
              </a:rPr>
              <a:t>R² : 0.9541 - MAE : 2.2024</a:t>
            </a:r>
          </a:p>
          <a:p>
            <a:endParaRPr lang="fr-FR" sz="1800">
              <a:cs typeface="Arial"/>
            </a:endParaRPr>
          </a:p>
          <a:p>
            <a:endParaRPr lang="fr-FR">
              <a:cs typeface="Arial"/>
            </a:endParaRPr>
          </a:p>
        </p:txBody>
      </p:sp>
      <p:pic>
        <p:nvPicPr>
          <p:cNvPr id="11" name="Image 10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C1578B30-C910-E34D-B462-EC99AB189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03" y="1982113"/>
            <a:ext cx="87534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47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44E7-A557-8E16-D60A-CFD55F9B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BF4073-1641-6181-E1F2-27494ADA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1E4E1DC9-85B2-E45B-0211-DFE998FE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Analyse statistique des erreurs 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DCFFF0EE-5224-E341-43E2-04767E506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10719"/>
              </p:ext>
            </p:extLst>
          </p:nvPr>
        </p:nvGraphicFramePr>
        <p:xfrm>
          <a:off x="1959991" y="1712914"/>
          <a:ext cx="6567720" cy="3249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930">
                  <a:extLst>
                    <a:ext uri="{9D8B030D-6E8A-4147-A177-3AD203B41FA5}">
                      <a16:colId xmlns:a16="http://schemas.microsoft.com/office/drawing/2014/main" val="2398985540"/>
                    </a:ext>
                  </a:extLst>
                </a:gridCol>
                <a:gridCol w="1641930">
                  <a:extLst>
                    <a:ext uri="{9D8B030D-6E8A-4147-A177-3AD203B41FA5}">
                      <a16:colId xmlns:a16="http://schemas.microsoft.com/office/drawing/2014/main" val="2202159670"/>
                    </a:ext>
                  </a:extLst>
                </a:gridCol>
                <a:gridCol w="1641930">
                  <a:extLst>
                    <a:ext uri="{9D8B030D-6E8A-4147-A177-3AD203B41FA5}">
                      <a16:colId xmlns:a16="http://schemas.microsoft.com/office/drawing/2014/main" val="3165320637"/>
                    </a:ext>
                  </a:extLst>
                </a:gridCol>
                <a:gridCol w="1641930">
                  <a:extLst>
                    <a:ext uri="{9D8B030D-6E8A-4147-A177-3AD203B41FA5}">
                      <a16:colId xmlns:a16="http://schemas.microsoft.com/office/drawing/2014/main" val="386594011"/>
                    </a:ext>
                  </a:extLst>
                </a:gridCol>
              </a:tblGrid>
              <a:tr h="40613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Réel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Prédite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ErreurAbs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90580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r>
                        <a:rPr lang="fr-FR" err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38,02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2,85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53085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r>
                        <a:rPr lang="fr-FR"/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55,8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55,4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4,8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312154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r>
                        <a:rPr lang="fr-FR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-14,9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740221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r>
                        <a:rPr lang="fr-FR"/>
                        <a:t>25%</a:t>
                      </a:r>
                      <a:endParaRPr lang="fr-FR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0,6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879633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23,2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23,2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1,4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17722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40,5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40,3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2,9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46084"/>
                  </a:ext>
                </a:extLst>
              </a:tr>
              <a:tr h="4061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536,7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483,8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/>
                        <a:t>82,9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817610"/>
                  </a:ext>
                </a:extLst>
              </a:tr>
            </a:tbl>
          </a:graphicData>
        </a:graphic>
      </p:graphicFrame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203208E0-7EDA-69BA-1ABA-07B2ACB6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</p:spTree>
    <p:extLst>
      <p:ext uri="{BB962C8B-B14F-4D97-AF65-F5344CB8AC3E}">
        <p14:creationId xmlns:p14="http://schemas.microsoft.com/office/powerpoint/2010/main" val="1381477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9AE7-AE63-6FDF-A7B9-B2DF51A6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CE2642-DD2C-2755-56C4-FD61FA32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2858247E-7323-1732-4460-79EA4C97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Analyse par bâtiment</a:t>
            </a:r>
          </a:p>
        </p:txBody>
      </p:sp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0657AC87-A8A1-2041-F29D-6A6D1465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3870BE2-F140-4AB6-077C-E518F167A4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4964" y="1558086"/>
            <a:ext cx="11110279" cy="4033996"/>
          </a:xfrm>
        </p:spPr>
        <p:txBody>
          <a:bodyPr lIns="91440" tIns="45720" rIns="91440" bIns="45720" anchor="t"/>
          <a:lstStyle/>
          <a:p>
            <a:endParaRPr lang="fr-FR" sz="1800">
              <a:cs typeface="Arial"/>
            </a:endParaRPr>
          </a:p>
          <a:p>
            <a:endParaRPr lang="fr-FR">
              <a:cs typeface="Arial"/>
            </a:endParaRP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62F548B0-68A4-BE12-2326-1226AD96CD09}"/>
              </a:ext>
            </a:extLst>
          </p:cNvPr>
          <p:cNvSpPr txBox="1">
            <a:spLocks/>
          </p:cNvSpPr>
          <p:nvPr/>
        </p:nvSpPr>
        <p:spPr>
          <a:xfrm>
            <a:off x="527921" y="1461324"/>
            <a:ext cx="11110279" cy="29586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58" indent="-18255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42" indent="-18414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37" indent="-1777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cs typeface="Arial"/>
              </a:rPr>
              <a:t>Bâtiment 3</a:t>
            </a:r>
          </a:p>
        </p:txBody>
      </p:sp>
      <p:pic>
        <p:nvPicPr>
          <p:cNvPr id="6" name="Image 5" descr="Une image contenant texte, Tracé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7796F438-D607-ED6E-4BBB-D6F2F14A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21" y="1757774"/>
            <a:ext cx="9238779" cy="442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98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1090-7ACF-20F8-EAA3-D208A5EC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F84533-25D0-6C24-C543-7D82B81F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2F06B87B-F34F-4392-CF30-F63FFBF7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Analyse par bâtiment</a:t>
            </a:r>
          </a:p>
        </p:txBody>
      </p:sp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7F322610-D651-D680-5C65-115A7007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149A494-9A5F-E0CC-733F-2A9168CF20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4964" y="1558086"/>
            <a:ext cx="11110279" cy="4033996"/>
          </a:xfrm>
        </p:spPr>
        <p:txBody>
          <a:bodyPr lIns="91440" tIns="45720" rIns="91440" bIns="45720" anchor="t"/>
          <a:lstStyle/>
          <a:p>
            <a:endParaRPr lang="fr-FR" sz="1800">
              <a:cs typeface="Arial"/>
            </a:endParaRPr>
          </a:p>
          <a:p>
            <a:endParaRPr lang="fr-FR">
              <a:cs typeface="Arial"/>
            </a:endParaRP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3254851E-26C9-FC15-FCFD-1B35C0773AB4}"/>
              </a:ext>
            </a:extLst>
          </p:cNvPr>
          <p:cNvSpPr txBox="1">
            <a:spLocks/>
          </p:cNvSpPr>
          <p:nvPr/>
        </p:nvSpPr>
        <p:spPr>
          <a:xfrm>
            <a:off x="527921" y="1461324"/>
            <a:ext cx="11110279" cy="29586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58" indent="-18255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42" indent="-18414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37" indent="-1777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cs typeface="Arial"/>
              </a:rPr>
              <a:t>Bâtiment 5</a:t>
            </a:r>
          </a:p>
        </p:txBody>
      </p:sp>
      <p:pic>
        <p:nvPicPr>
          <p:cNvPr id="2" name="Image 1" descr="Une image contenant texte, Tracé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F7801C9C-4D09-9DE5-5E2A-0590554287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16" r="-100" b="-203"/>
          <a:stretch>
            <a:fillRect/>
          </a:stretch>
        </p:blipFill>
        <p:spPr>
          <a:xfrm>
            <a:off x="1434276" y="1704759"/>
            <a:ext cx="9398715" cy="456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27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8D07-60DF-594D-C0E3-BF0E6062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91E1AF-7F2D-ED0F-7C81-EA269ACC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C1D1DF0-360F-3001-3EE0-30D7B018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/>
              <a:t>Analyse par bâtiment</a:t>
            </a:r>
          </a:p>
        </p:txBody>
      </p:sp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B949B379-2928-09C9-1750-56CC271C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7190EEC-66DA-41C6-DE3A-4CC4BF9E9D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4964" y="1558086"/>
            <a:ext cx="11110279" cy="4033996"/>
          </a:xfrm>
        </p:spPr>
        <p:txBody>
          <a:bodyPr lIns="91440" tIns="45720" rIns="91440" bIns="45720" anchor="t"/>
          <a:lstStyle/>
          <a:p>
            <a:endParaRPr lang="fr-FR" sz="1800">
              <a:cs typeface="Arial"/>
            </a:endParaRPr>
          </a:p>
          <a:p>
            <a:endParaRPr lang="fr-FR">
              <a:cs typeface="Arial"/>
            </a:endParaRP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ACAE3916-E259-F079-2E6B-3957951A8E7A}"/>
              </a:ext>
            </a:extLst>
          </p:cNvPr>
          <p:cNvSpPr txBox="1">
            <a:spLocks/>
          </p:cNvSpPr>
          <p:nvPr/>
        </p:nvSpPr>
        <p:spPr>
          <a:xfrm>
            <a:off x="527921" y="1461324"/>
            <a:ext cx="11110279" cy="29586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58" indent="-18255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42" indent="-18414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37" indent="-1777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cs typeface="Arial"/>
              </a:rPr>
              <a:t>Histogramme des erreurs</a:t>
            </a:r>
          </a:p>
        </p:txBody>
      </p:sp>
      <p:pic>
        <p:nvPicPr>
          <p:cNvPr id="6" name="Image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05ADB8AF-3608-4918-B27C-EC392893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185" y="1739900"/>
            <a:ext cx="9231630" cy="45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62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8159-3867-6896-E7A2-8293BCDF4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A8B852-FA60-FD14-5B6B-4B9B8B5A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DD05EE4-5056-C751-49F4-A47AA8D00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fr-FR" dirty="0"/>
              <a:t>En supprimant le bâtiment 5</a:t>
            </a:r>
          </a:p>
        </p:txBody>
      </p:sp>
      <p:sp>
        <p:nvSpPr>
          <p:cNvPr id="8" name="Espace réservé de la date 1">
            <a:extLst>
              <a:ext uri="{FF2B5EF4-FFF2-40B4-BE49-F238E27FC236}">
                <a16:creationId xmlns:a16="http://schemas.microsoft.com/office/drawing/2014/main" id="{47041834-B19E-B8D3-B523-D4E07C8B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000" y="267971"/>
            <a:ext cx="863600" cy="242570"/>
          </a:xfrm>
        </p:spPr>
        <p:txBody>
          <a:bodyPr/>
          <a:lstStyle/>
          <a:p>
            <a:r>
              <a:rPr lang="fr-FR"/>
              <a:t>Juillet 2025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CB0B67B-3EBA-5460-BCC5-9A2A384B33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4964" y="1558086"/>
            <a:ext cx="11110279" cy="4033996"/>
          </a:xfrm>
        </p:spPr>
        <p:txBody>
          <a:bodyPr lIns="91440" tIns="45720" rIns="91440" bIns="45720" anchor="t"/>
          <a:lstStyle/>
          <a:p>
            <a:endParaRPr lang="fr-FR" sz="1800">
              <a:cs typeface="Arial"/>
            </a:endParaRPr>
          </a:p>
          <a:p>
            <a:endParaRPr lang="fr-FR"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8E0432C-36EF-0E8C-F743-DF3113BC8E6C}"/>
              </a:ext>
            </a:extLst>
          </p:cNvPr>
          <p:cNvSpPr txBox="1"/>
          <p:nvPr/>
        </p:nvSpPr>
        <p:spPr>
          <a:xfrm>
            <a:off x="749300" y="1676400"/>
            <a:ext cx="7112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cs typeface="Arial"/>
              </a:rPr>
              <a:t>Nous avons essayé de supprimer le bâtiment 5 pour voir si le R² aller être plus performant.</a:t>
            </a:r>
          </a:p>
          <a:p>
            <a:r>
              <a:rPr lang="fr-FR">
                <a:cs typeface="Arial"/>
              </a:rPr>
              <a:t>Résultat : Oui</a:t>
            </a:r>
          </a:p>
          <a:p>
            <a:r>
              <a:rPr lang="fr-FR">
                <a:cs typeface="Arial"/>
              </a:rPr>
              <a:t>Nous obtenons : </a:t>
            </a:r>
            <a:r>
              <a:rPr lang="fr-FR">
                <a:latin typeface="Arial"/>
                <a:cs typeface="Arial"/>
              </a:rPr>
              <a:t>MAE: 1.6558, MSE: 10.3872, R²: 0.9692</a:t>
            </a:r>
          </a:p>
          <a:p>
            <a:endParaRPr lang="fr-FR">
              <a:cs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76C8D8-9094-067A-471A-007B9DECA3B5}"/>
              </a:ext>
            </a:extLst>
          </p:cNvPr>
          <p:cNvSpPr txBox="1"/>
          <p:nvPr/>
        </p:nvSpPr>
        <p:spPr>
          <a:xfrm>
            <a:off x="528697" y="3153363"/>
            <a:ext cx="870749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dirty="0">
                <a:latin typeface="Arial Black"/>
              </a:rPr>
              <a:t>En utilisant seulement les bâtiments de esplanade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D19D64-8622-9E86-0BF3-0638E26EAB05}"/>
              </a:ext>
            </a:extLst>
          </p:cNvPr>
          <p:cNvSpPr txBox="1"/>
          <p:nvPr/>
        </p:nvSpPr>
        <p:spPr>
          <a:xfrm>
            <a:off x="538104" y="3586104"/>
            <a:ext cx="8698088" cy="746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dirty="0">
                <a:cs typeface="Arial"/>
              </a:rPr>
              <a:t>Pour </a:t>
            </a:r>
            <a:r>
              <a:rPr lang="en-US" dirty="0" err="1">
                <a:cs typeface="Arial"/>
              </a:rPr>
              <a:t>pousser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cette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approche</a:t>
            </a:r>
            <a:r>
              <a:rPr lang="en-US" dirty="0">
                <a:cs typeface="Arial"/>
              </a:rPr>
              <a:t> plus loin, nous </a:t>
            </a:r>
            <a:r>
              <a:rPr lang="en-US" dirty="0" err="1">
                <a:cs typeface="Arial"/>
              </a:rPr>
              <a:t>avons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choisi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d’utiliser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seulement</a:t>
            </a:r>
            <a:r>
              <a:rPr lang="en-US" dirty="0">
                <a:cs typeface="Arial"/>
              </a:rPr>
              <a:t> les </a:t>
            </a:r>
            <a:r>
              <a:rPr lang="en-US" dirty="0" err="1">
                <a:cs typeface="Arial"/>
              </a:rPr>
              <a:t>bâtiments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situés</a:t>
            </a:r>
            <a:r>
              <a:rPr lang="en-US" dirty="0">
                <a:cs typeface="Arial"/>
              </a:rPr>
              <a:t> au </a:t>
            </a:r>
            <a:r>
              <a:rPr lang="en-US" dirty="0" err="1">
                <a:cs typeface="Arial"/>
              </a:rPr>
              <a:t>niveau</a:t>
            </a:r>
            <a:r>
              <a:rPr lang="en-US" dirty="0">
                <a:cs typeface="Arial"/>
              </a:rPr>
              <a:t> de </a:t>
            </a:r>
            <a:r>
              <a:rPr lang="en-US" dirty="0" err="1">
                <a:cs typeface="Arial"/>
              </a:rPr>
              <a:t>l’Esplanade</a:t>
            </a:r>
            <a:r>
              <a:rPr lang="en-US" dirty="0">
                <a:cs typeface="Arial"/>
              </a:rPr>
              <a:t>. Cela nous a </a:t>
            </a:r>
            <a:r>
              <a:rPr lang="en-US" dirty="0" err="1">
                <a:cs typeface="Arial"/>
              </a:rPr>
              <a:t>permis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d’atteindre</a:t>
            </a:r>
            <a:r>
              <a:rPr lang="en-US" dirty="0">
                <a:cs typeface="Arial"/>
              </a:rPr>
              <a:t> un R² de 0,9843, le </a:t>
            </a:r>
            <a:r>
              <a:rPr lang="en-US" dirty="0" err="1">
                <a:cs typeface="Arial"/>
              </a:rPr>
              <a:t>meilleur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résultat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jusqu’à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présent</a:t>
            </a:r>
            <a:r>
              <a:rPr lang="en-US" dirty="0">
                <a:cs typeface="Arial"/>
              </a:rPr>
              <a:t>. </a:t>
            </a:r>
            <a:endParaRPr lang="fr-F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12168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ESI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FBE216"/>
      </a:accent1>
      <a:accent2>
        <a:srgbClr val="AFA5D1"/>
      </a:accent2>
      <a:accent3>
        <a:srgbClr val="6DC6DA"/>
      </a:accent3>
      <a:accent4>
        <a:srgbClr val="F0869D"/>
      </a:accent4>
      <a:accent5>
        <a:srgbClr val="6FBC85"/>
      </a:accent5>
      <a:accent6>
        <a:srgbClr val="F5F5F5"/>
      </a:accent6>
      <a:hlink>
        <a:srgbClr val="0563C1"/>
      </a:hlink>
      <a:folHlink>
        <a:srgbClr val="954F72"/>
      </a:folHlink>
    </a:clrScheme>
    <a:fontScheme name="CESI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6D96EBC154B548B37B66905BC8013B" ma:contentTypeVersion="8" ma:contentTypeDescription="Crée un document." ma:contentTypeScope="" ma:versionID="c85a83c9b1290dafcd2955b3be93b566">
  <xsd:schema xmlns:xsd="http://www.w3.org/2001/XMLSchema" xmlns:xs="http://www.w3.org/2001/XMLSchema" xmlns:p="http://schemas.microsoft.com/office/2006/metadata/properties" xmlns:ns3="105ebccb-a3a5-46e6-9cf1-2caf1cc7f79d" xmlns:ns4="2f3603e6-7258-4cc9-9231-e4997ee3b391" targetNamespace="http://schemas.microsoft.com/office/2006/metadata/properties" ma:root="true" ma:fieldsID="45fdded3f7f46775dbe2f6ea3b6fbbb2" ns3:_="" ns4:_="">
    <xsd:import namespace="105ebccb-a3a5-46e6-9cf1-2caf1cc7f79d"/>
    <xsd:import namespace="2f3603e6-7258-4cc9-9231-e4997ee3b3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5ebccb-a3a5-46e6-9cf1-2caf1cc7f7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3603e6-7258-4cc9-9231-e4997ee3b39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5ebccb-a3a5-46e6-9cf1-2caf1cc7f79d" xsi:nil="true"/>
  </documentManagement>
</p:properties>
</file>

<file path=customXml/itemProps1.xml><?xml version="1.0" encoding="utf-8"?>
<ds:datastoreItem xmlns:ds="http://schemas.openxmlformats.org/officeDocument/2006/customXml" ds:itemID="{172E51E1-0D66-43E0-B18E-49105DEA3B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49E8A-5532-4F89-8856-9E7EB9F2B15D}">
  <ds:schemaRefs>
    <ds:schemaRef ds:uri="105ebccb-a3a5-46e6-9cf1-2caf1cc7f79d"/>
    <ds:schemaRef ds:uri="2f3603e6-7258-4cc9-9231-e4997ee3b3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6F082F-74E8-47BB-850A-6FC195B7CF5A}">
  <ds:schemaRefs>
    <ds:schemaRef ds:uri="105ebccb-a3a5-46e6-9cf1-2caf1cc7f79d"/>
    <ds:schemaRef ds:uri="2f3603e6-7258-4cc9-9231-e4997ee3b3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Grand écran</PresentationFormat>
  <Slides>32</Slides>
  <Notes>29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3" baseType="lpstr">
      <vt:lpstr>Thème Office</vt:lpstr>
      <vt:lpstr>Réseau de neurones et métaheuristiques pour une prédiction fiable de la production d'énergie photovoltaïque de bâtiments à énergie positive.</vt:lpstr>
      <vt:lpstr>Sommaire</vt:lpstr>
      <vt:lpstr>Optimisation du DATASET</vt:lpstr>
      <vt:lpstr>Optimisation du dataset</vt:lpstr>
      <vt:lpstr>Présentation PowerPoint</vt:lpstr>
      <vt:lpstr>CSV par bâtiment</vt:lpstr>
      <vt:lpstr>1 ligne sur 2 Semaine représentative</vt:lpstr>
      <vt:lpstr>Graphe des corrélation avec production</vt:lpstr>
      <vt:lpstr>Fichier csv filtré par matrice de corrélation</vt:lpstr>
      <vt:lpstr>Présentation PowerPoint</vt:lpstr>
      <vt:lpstr>Entrainement des IA et optimisation des hyperparamètres</vt:lpstr>
      <vt:lpstr>Présentation PowerPoint</vt:lpstr>
      <vt:lpstr>Tests avec les différents modèles </vt:lpstr>
      <vt:lpstr>Analyse</vt:lpstr>
      <vt:lpstr>ConvLSTM + Optuna  avec les données réduites</vt:lpstr>
      <vt:lpstr>Entrainement du model (val-loss = mae)</vt:lpstr>
      <vt:lpstr>ConvLSTM + Optuna  avec les données réduites / Epochs = 700</vt:lpstr>
      <vt:lpstr>Points de vigilance</vt:lpstr>
      <vt:lpstr>Résultats au 30/06</vt:lpstr>
      <vt:lpstr>Tests avec les différents modèles </vt:lpstr>
      <vt:lpstr>Résultats de l’architecture Transformer </vt:lpstr>
      <vt:lpstr>Exécution de plusieurs modèles en faisant varier le nombre epoch et le window size</vt:lpstr>
      <vt:lpstr>Evolution du MAE a chaque essai avec optimisation des HP avec OPTUNA</vt:lpstr>
      <vt:lpstr>Répartition des HP en prenant en compte les 14 trials</vt:lpstr>
      <vt:lpstr>Répartition des HP en prenant en compte les 0;10-14 trials</vt:lpstr>
      <vt:lpstr>Hyperparamètres figés</vt:lpstr>
      <vt:lpstr>Test du modèle avec hyperparamètres figés</vt:lpstr>
      <vt:lpstr>Analyse statistique des erreurs </vt:lpstr>
      <vt:lpstr>Analyse par bâtiment</vt:lpstr>
      <vt:lpstr>Analyse par bâtiment</vt:lpstr>
      <vt:lpstr>Analyse par bâtiment</vt:lpstr>
      <vt:lpstr>En supprimant le bâtiment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Algrain</dc:creator>
  <cp:revision>10</cp:revision>
  <dcterms:created xsi:type="dcterms:W3CDTF">2019-08-29T07:36:02Z</dcterms:created>
  <dcterms:modified xsi:type="dcterms:W3CDTF">2025-07-04T13:58:41Z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0x010100656D96EBC154B548B37B66905BC8013B</vt:lpwstr>
  </property>
</Properties>
</file>